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c121b47d114986" /><Relationship Type="http://schemas.openxmlformats.org/officeDocument/2006/relationships/extended-properties" Target="/docProps/app.xml" Id="R5162db2fc7a64395" /><Relationship Type="http://schemas.openxmlformats.org/officeDocument/2006/relationships/officeDocument" Target="/ppt/presentation.xml" Id="R2b73bab5d64f41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1d6a4dced348f9"/>
  </p:sldMasterIdLst>
  <p:notesMasterIdLst>
    <p:notesMasterId xmlns:r="http://schemas.openxmlformats.org/officeDocument/2006/relationships" r:id="Ree06e60195c441cd"/>
  </p:notesMasterIdLst>
  <p:sldIdLst>
    <p:sldId xmlns:r="http://schemas.openxmlformats.org/officeDocument/2006/relationships" id="256" r:id="R432f375b263e4054"/>
    <p:sldId xmlns:r="http://schemas.openxmlformats.org/officeDocument/2006/relationships" id="257" r:id="R33e33da009bb42b0"/>
    <p:sldId xmlns:r="http://schemas.openxmlformats.org/officeDocument/2006/relationships" id="258" r:id="Rbe905361855f4ee7"/>
    <p:sldId xmlns:r="http://schemas.openxmlformats.org/officeDocument/2006/relationships" id="259" r:id="Rab3d5dab8c104167"/>
    <p:sldId xmlns:r="http://schemas.openxmlformats.org/officeDocument/2006/relationships" id="260" r:id="R2e3c0961df3648b0"/>
    <p:sldId xmlns:r="http://schemas.openxmlformats.org/officeDocument/2006/relationships" id="261" r:id="Rde3f70833ad743d1"/>
    <p:sldId xmlns:r="http://schemas.openxmlformats.org/officeDocument/2006/relationships" id="262" r:id="R7e6041dfb62f47f8"/>
    <p:sldId xmlns:r="http://schemas.openxmlformats.org/officeDocument/2006/relationships" id="263" r:id="Rf85eb315bfbe4e4b"/>
    <p:sldId xmlns:r="http://schemas.openxmlformats.org/officeDocument/2006/relationships" id="264" r:id="R7dfa2240abf5425c"/>
    <p:sldId xmlns:r="http://schemas.openxmlformats.org/officeDocument/2006/relationships" id="265" r:id="R4f11f4a1d2b344ea"/>
    <p:sldId xmlns:r="http://schemas.openxmlformats.org/officeDocument/2006/relationships" id="266" r:id="R83e9d6dbb0d44525"/>
    <p:sldId xmlns:r="http://schemas.openxmlformats.org/officeDocument/2006/relationships" id="267" r:id="R9b353e17ee0c4946"/>
    <p:sldId xmlns:r="http://schemas.openxmlformats.org/officeDocument/2006/relationships" id="268" r:id="R245f12ac609549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f400d0e2f14cc1" /><Relationship Type="http://schemas.openxmlformats.org/officeDocument/2006/relationships/slideMaster" Target="/ppt/slideMasters/slideMaster1.xml" Id="Rae1d6a4dced348f9" /><Relationship Type="http://schemas.openxmlformats.org/officeDocument/2006/relationships/notesMaster" Target="/ppt/notesMasters/notesMaster1.xml" Id="Ree06e60195c441cd" /><Relationship Type="http://schemas.openxmlformats.org/officeDocument/2006/relationships/presProps" Target="/ppt/presProps.xml" Id="Rc344b0cfea0e4c03" /><Relationship Type="http://schemas.openxmlformats.org/officeDocument/2006/relationships/tableStyles" Target="/ppt/tableStyles.xml" Id="Rdcb838adce484a3e" /><Relationship Type="http://schemas.openxmlformats.org/officeDocument/2006/relationships/slide" Target="/ppt/slides/slide1.xml" Id="R432f375b263e4054" /><Relationship Type="http://schemas.openxmlformats.org/officeDocument/2006/relationships/slide" Target="/ppt/slides/slide2.xml" Id="R33e33da009bb42b0" /><Relationship Type="http://schemas.openxmlformats.org/officeDocument/2006/relationships/slide" Target="/ppt/slides/slide3.xml" Id="Rbe905361855f4ee7" /><Relationship Type="http://schemas.openxmlformats.org/officeDocument/2006/relationships/slide" Target="/ppt/slides/slide4.xml" Id="Rab3d5dab8c104167" /><Relationship Type="http://schemas.openxmlformats.org/officeDocument/2006/relationships/slide" Target="/ppt/slides/slide5.xml" Id="R2e3c0961df3648b0" /><Relationship Type="http://schemas.openxmlformats.org/officeDocument/2006/relationships/slide" Target="/ppt/slides/slide6.xml" Id="Rde3f70833ad743d1" /><Relationship Type="http://schemas.openxmlformats.org/officeDocument/2006/relationships/slide" Target="/ppt/slides/slide7.xml" Id="R7e6041dfb62f47f8" /><Relationship Type="http://schemas.openxmlformats.org/officeDocument/2006/relationships/slide" Target="/ppt/slides/slide8.xml" Id="Rf85eb315bfbe4e4b" /><Relationship Type="http://schemas.openxmlformats.org/officeDocument/2006/relationships/slide" Target="/ppt/slides/slide9.xml" Id="R7dfa2240abf5425c" /><Relationship Type="http://schemas.openxmlformats.org/officeDocument/2006/relationships/slide" Target="/ppt/slides/slide10.xml" Id="R4f11f4a1d2b344ea" /><Relationship Type="http://schemas.openxmlformats.org/officeDocument/2006/relationships/slide" Target="/ppt/slides/slide11.xml" Id="R83e9d6dbb0d44525" /><Relationship Type="http://schemas.openxmlformats.org/officeDocument/2006/relationships/slide" Target="/ppt/slides/slide12.xml" Id="R9b353e17ee0c4946" /><Relationship Type="http://schemas.openxmlformats.org/officeDocument/2006/relationships/slide" Target="/ppt/slides/slide13.xml" Id="R245f12ac609549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c460401dfd46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gherkai Spectrum">
      <a:dk1>
        <a:srgbClr val="252644"/>
      </a:dk1>
      <a:lt1>
        <a:srgbClr val="FCFBFF"/>
      </a:lt1>
      <a:dk2>
        <a:srgbClr val="63677F"/>
      </a:dk2>
      <a:lt2>
        <a:srgbClr val="EEE8FA"/>
      </a:lt2>
      <a:accent1>
        <a:srgbClr val="7240D9"/>
      </a:accent1>
      <a:accent2>
        <a:srgbClr val="BB4E18"/>
      </a:accent2>
      <a:accent3>
        <a:srgbClr val="087F9E"/>
      </a:accent3>
      <a:accent4>
        <a:srgbClr val="9B93B3"/>
      </a:accent4>
      <a:accent5>
        <a:srgbClr val="6098BB"/>
      </a:accent5>
      <a:accent6>
        <a:srgbClr val="9692BA"/>
      </a:accent6>
      <a:hlink>
        <a:srgbClr val="7240D9"/>
      </a:hlink>
      <a:folHlink>
        <a:srgbClr val="B9A7E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gherkai Spectr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aa767d434a4e06" /><Relationship Type="http://schemas.openxmlformats.org/officeDocument/2006/relationships/notesMaster" Target="/ppt/notesMasters/notesMaster1.xml" Id="Rc6b8cf5a8ee44c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f7e21851974531" /><Relationship Type="http://schemas.openxmlformats.org/officeDocument/2006/relationships/notesMaster" Target="/ppt/notesMasters/notesMaster1.xml" Id="Rf58469ce5fdb48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5c173b4f954acf" /><Relationship Type="http://schemas.openxmlformats.org/officeDocument/2006/relationships/notesMaster" Target="/ppt/notesMasters/notesMaster1.xml" Id="R6d1e6ef4c8aa41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44ce4848f64413" /><Relationship Type="http://schemas.openxmlformats.org/officeDocument/2006/relationships/notesMaster" Target="/ppt/notesMasters/notesMaster1.xml" Id="R3353689dda8548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8cd422f7454758" /><Relationship Type="http://schemas.openxmlformats.org/officeDocument/2006/relationships/notesMaster" Target="/ppt/notesMasters/notesMaster1.xml" Id="R05ee04115dbc45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e6b214d43c40f8" /><Relationship Type="http://schemas.openxmlformats.org/officeDocument/2006/relationships/notesMaster" Target="/ppt/notesMasters/notesMaster1.xml" Id="Rab0f16266b4b44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4a635470d34cde" /><Relationship Type="http://schemas.openxmlformats.org/officeDocument/2006/relationships/notesMaster" Target="/ppt/notesMasters/notesMaster1.xml" Id="R484481072e1f40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706ba861ed40c2" /><Relationship Type="http://schemas.openxmlformats.org/officeDocument/2006/relationships/notesMaster" Target="/ppt/notesMasters/notesMaster1.xml" Id="R4a605597a7b340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71fe141015440f" /><Relationship Type="http://schemas.openxmlformats.org/officeDocument/2006/relationships/notesMaster" Target="/ppt/notesMasters/notesMaster1.xml" Id="R9440adf51fdf4b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8354b1fdaf46d8" /><Relationship Type="http://schemas.openxmlformats.org/officeDocument/2006/relationships/notesMaster" Target="/ppt/notesMasters/notesMaster1.xml" Id="Rec22df563aac44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90e62c28fe40c4" /><Relationship Type="http://schemas.openxmlformats.org/officeDocument/2006/relationships/notesMaster" Target="/ppt/notesMasters/notesMaster1.xml" Id="Ra4d2593eebc840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cf6517c33b46bb" /><Relationship Type="http://schemas.openxmlformats.org/officeDocument/2006/relationships/notesMaster" Target="/ppt/notesMasters/notesMaster1.xml" Id="R1c1a6193675944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bcabdd0b6b4ebc" /><Relationship Type="http://schemas.openxmlformats.org/officeDocument/2006/relationships/notesMaster" Target="/ppt/notesMasters/notesMaster1.xml" Id="Rc601e5058f104a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gherkai 测试工作流完整演示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【控场】0:00–0:45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这次完整演示围绕识字挑战应用的一条真实需求展开。我们先看 agent 如何依据需求生成用例与确定性步骤代码，再审阅、预检并实际执行。随后注入一次得分没有清零的缺陷，读取失败依据，观察 agent 怎样据此继续测试。最后恢复应用，在云端复验，并加入由另一种引擎执行的英文场景。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环境与窗口提前准备。两段 Agent 工作记录尚待录制，正式演示时明确预录来源。开场直接进入业务，不展开工具安装。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封面 → 应用与业务要求。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docs/demo-runbook.md D1；产品需求 F4、F5；主线与英文场景预检；视觉沿用价值与方法 v12。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点了再玩一次，新一轮真的开始了吗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【控场】0:45–3:00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用户答完一组题拿到十分。点击再玩一次后，进度要回到第一题，得分必须清零；再次完成挑战，还应能返回主页。我们围绕这个要求生成并审阅用例，实际运行后观察判定，再故意让应用保留旧得分，看同样的测试能否发现问题。恢复后的云端提交保留这条主线，同时加入应用已有的英文场景，用另一种引擎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打开应用与产品需求 F4，指出十分、重玩按钮和清零要求。不手工答完十道题。说明主线共三次运行，第三次云端提交含两个任务。截图是归档实测。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业务问题 → 应用与需求原文 → 回 PPT 确认验收要求及路线。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docs/product-requirements.md F4/F5；features/result.feature；evidence.zip selected/baseline-result-card.jpeg。；线性图标沿用价值与方法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业务需求如何成为测试用例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【控场】3:00–4:30；Agent 片段约 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验收依据始终是产品需求，测试简报只界定本次范围。Agent 根据需求与项目约定编写 Gherkin 用例和确定性步骤代码，再调用 gherkai plan 查看执行计划。plan 会检查用例与配置，列出选中的场景、引擎以及每一步交给 AI、代码还是导航执行。这个过程不打开浏览器、不执行测试。因此这里的产出是用例、代码和可核对的执行计划，实际业务是否通过要等随后运行。我们先看实际工作记录，再审阅用例。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E5 依次展示需求、brief 范围、实际 feature 和确定性代码，以及 gherkai plan 输出。明确 plan 的计划检查与后续 run 的实际执行。录制待补，不将计划中的产出当作已经发生的 Agent 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依据与产出 → Agent 实录 → 用例和代码 → gherkai plan 执行计划 → 用例与状态接续。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docs/product-requirements.md；docs/briefs/result.md；docs/ui-testing-conventions.md 交付约定；E5 待录制。；线性图标沿用价值与方法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重玩之前先真实到达结算页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【控场】4:30–6:00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第一个场景先打开首页、进入第一组，再由确定性代码按需求题库答对十道题，真实到达 10 分的结算页。三个场景配置相同的 scope，gherkai 将它们编成一个执行任务，按书写顺序共用浏览器会话。因此第二个场景接着使用这张结算页，第三个场景也能继续后面的流程。向下展开的是第二个场景。本例的 Given 由匹配到的确定性步骤自动检查已有得分，记录重玩测试的前置状态是否符合要求。之后继续点击与清零检查。QA 审阅业务期望和用例设计，运行时的条件检查由工具执行。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先指明三个 scenario 上相同的 scope，再沿下箭头展开第二个场景。本例 Given 匹配确定性检查，并非 Given 关键字本身自动提供校验或状态准备。前置校验不是自动门禁：普通断言 failed 仍继续后续步骤，执行 error 才触发跳过本场景后续步骤。强调跨 scenario、同一 scope 的浏览器会话复用。不会自动补回被筛掉的前置场景，也不是从过去一次 run 保存的状态继续。不给接续链添加会重新导航首页的 Background。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三个接续场景 → 编辑器中的相同 scope 配置 → 向下展开重玩场景 → 本例 Given 的前置条件检查。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features/result.feature 接续链；gherkai writing-features 的 @scope 契约及步骤派发；steps/result.mts 的结算得分检查；产品需求 F4。；线性图标沿用价值与方法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运行前确认测试范围与执行方式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【控场】6:00–7:30；约 7:00 发起本机运行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现在用 gherkai plan 核对执行计划。表里依次检查：是否选中了完整的三个场景，它们是否在一个浏览器会话里按顺序运行，引擎是不是 Midscene，以及总共有多少步、每步由什么执行。十四个确定性步骤、七个 AI 步骤和一次导航，合计是三个场景的二十二步。计划确认后才启动第一次本机测试，随后查看实际得分检查代码。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将终端 plan 输出逐项对应表格的四行，再指向逐步的执行方式标注。只对主线统计 22 步；后面含英文场景的组合计划为 33 步。约 7:00 发起正常 run，保持执行终端，切第 6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说明预检观察点 → 终端实际 plan → 核对范围和步骤标注 → 发起本机 run → 代码说明。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本轮本地实际 plan：主线 3 scenarios / 1 job / 22 steps，14 code / 7 AI / 1 navigation；未执行 UI。；线性图标沿用价值与方法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得分为 0 怎样执行与判定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【控场】7:30–10:30；本机运行期间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用例写的是得分为零。注册模式匹配这句话，把期望值交给 scoreIs；它先确认答题页可见，再等待页面得分文字等于期望值。如果超时仍不一致，代码会形成失败消息，包含期望值、实际值、页面地址和元素位置。这既给出失败判定，也为人或 agent 提供排查依据。gherkai skill 指导编程 agent 将这些诊断信息写进确定性步骤代码。确定性检查本身不产生 AI 思考轨迹或截图，页面现场需结合这次运行中相应的证据读取。接着到运行记录中看 AI 点击和得分判定。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打开 quiz.mts 的注册，以及 _checks.mts 的 scoreIs、expectText，展开失败分支中的消息拼接。指出它返回期望、实际、页面地址与选择器，不只返回失败二字。页面是实际代码节选；Agent 生成过程的实录仍待补。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对应业务原句 → 编辑器中的真实注册与检查函数 → 下一页同次运行报告和 AI 轨迹。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steps/quiz.mts；steps/_checks.mts 的 scoreIs、expectText、where；gherkai skill references/deterministic-steps.md 的失败消息要求。；线性图标沿用价值与方法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不只看到页面变化，还能核对验收结果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【控场】10:30–12:00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现在把正常运行的结果和原用例对上：点击操作完成，进度回到一比十，得分是零，后续也能返回主页。我们可以沿着用例逐项复核，而不是只看一个总的通过标记。AI 操作的执行轨迹和精确检查的判定说明了结果从何而来。接下来保持用例和验收要求不变，只让应用出现一次得分未清零的问题，看看同样的测试能否发现它。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按 D4 从 normal.json 取 DEMO_NORMAL_RUN，读取 explain，再展开重玩场景 step 1 的 AI 证据。未终态时明确切换归档结果，不宣称本次已通过。下一次注入须等本次正常运行结束，不能在它执行期间修改被测应用。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标出验收项 → 本次运行报告与 AI 轨迹 → 对照页面进度、得分 → 回 PPT 归纳并引出缺陷验证。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evidence.zip baseline/explain.json、selected/baseline-replay-after.jpeg；归档 run 20261001T054033Z-694466。；线性图标沿用价值与方法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按钮点到了，得分却没有清零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【控场】12:00–17:00；先注入并启动缺陷运行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演示者故意保留上一轮分数，再执行同一用例。gherkai explain 给出人可读的业务步骤、判定和失败原因。保存的实测中，点击已完成，进度回到第一题，但分数仍为十分。确定性检查返回了期望与实际不符的说明，还可以结合本次运行的页面现场核对。通过 explain 的 JSON 输出，agent 可以读取失败说明、步骤定位，以及可用的证据入口。它不是只把说明文字放进 JSON，而是提供后续处理所需的结构化反馈。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先看 explain 的人读说明，再看同一 run 的 JSON。得分确定性步骤的失败消息与相关 AI 步骤的页面证据分别查看，不能声称每个确定性步骤都自动截图。保持同次运行，不混用归档或当前结果。随后进入 Agent 反馈循环。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提出缺陷验证目标 → 注入改动与第二次 run → 本次失败原因及页面现场 → 回 PPT 对照 0 与 10 → Agent 反馈页。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docs/product-requirements.md F4；evidence.zip fault/explain.json、fault-provenance.json、selected/fault-replay-after.jpeg；归档 run 20261001T054537Z-37e8d5。；线性图标沿用价值与方法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根据反馈决定下一轮验证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【控场】17:00–20:00；E7 约 2 分钟，随后恢复应用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把原要求、失败运行和读取反馈的能力交给 agent，让它自己核对哪个动作完成了、哪个业务状态没有达到期望、证据是什么。它可以据此建议检查测试实现、补充确定性步骤，也能把依据交给编程 agent 辅助排查应用缺陷。这里复验要带上前置场景，不能只重跑中间的再玩一次。我们看实际工作片段，再恢复演示应用。恢复由演示者完成；修复是否有效，仍要用原验收要求验证。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按 D6 播放 E7，明确它来自录制中标注的失败 run，不能冒充刚才现场 run 的即时输出。E7 待补；不透露注入位置、不补写 agent 结论。完整视频制作时，前一段失败与此片段须使用同一录制 run 的证据。确认缺陷测试已终态，片段后按备份 restore，核对差异；不宣称自主修复。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说明反馈输入 → Agent 读取同次运行的原因与证据、给出实际判断 → 回 PPT 归纳 → 展示演示者恢复应用 → 云端复验。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evidence.zip fault/explain.json、fault/jobs/result-replay-and-home.json；docs/product-requirements.md；plan.md E7（待录制）。；线性图标沿用价值与方法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恢复应用后提交云端测试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【控场】20:00–22:00；约 21:00 前完成云端提交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应用恢复后，将主线和英文场景提交到准备好的云端后端。先看左边：个人在本机调整应用或确定性步骤代码，运行 gherkai，读取结果与失败依据，再继续调试。本机直接加载步骤代码，适合这一轮快速迭代。右边是团队分工：测试开发和基础设施团队统一发布、维护代码、引擎与运行环境。QA、agent 或流水线提交测试任务，按 run ID 查询状态、结果和证据。共享后端负责推进执行与归集结果，团队可以持续复用已经发布的执行能力。本例两种模式都仍使用 AWS 浏览器与模型。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尽早完成 D7 组合 plan 与 submit，保存 DEMO_CLOUD_RUN，再用左右流程图解释两种使用场景。沿发布能力的下箭头与提交/返回的横箭头讲清团队分工。本机不能关机断网，因为被测应用仍由本机隧道提供。两个引擎的云端 variant 需事先核对。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恢复应用 → 组合 plan 与云端 submit → 回 PPT 左侧本机迭代、右侧团队发布和调用 → 多引擎任务与结果。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gherkai 1.4 CLI；本轮两引擎组合预检；docs/demo-runbook.md D7。；线性图标沿用价值与方法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一次提交中的两种执行引擎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【控场】22:00–25:00；云端运行期间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这次提交里有两个任务。中文主线仍由 Midscene 复验，保持正常、缺陷、恢复之间的对照。另一个是现有的英文结算场景，由 Nova Act 执行。它从首页独立开始，答完十道题，检查英文结算内容；它不复用前一个任务的浏览器状态，也没有覆盖重玩清零。两个引擎的确定性步骤分别使用 TypeScript 和 Python，项目已提供成对实现。我们可以按需要选择执行引擎，而提交、查询、读取反馈的工作流程仍由 gherkai 统一组织。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先沿同一 run ID 分出的两条分支，说明两个任务各用独立浏览器会话，再展示英文 feature 中 engine 标签、英文 URL 和 AI 操作文本，以及组合 plan 的两个 job。明确只是项目现有中英文场景的路由演示，不是同一用例无需适配地互换引擎。两侧确定性代码要预先装进各自云端 variant。组合 plan 已通过，但 Nova Act 实测及双引擎云端彩排待补。不得拿旧 Midscene 结果冒充新双引擎结果。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同一 run ID 下的两个任务分支 → 编辑器中的引擎与英文界面选择 → 组合 plan → 同一 run ID 下分别打开任务状态与证据。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features/result.feature 中文 scope 与英文场景；steps/result.mts、result.py 等成对注册；本轮组合 plan：2 jobs / 4 scenarios / 33 steps；gherkai 引擎约定。；线性图标沿用价值与方法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提交成功之后，还要收回业务判定与证据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【控场】25:00–28:00；提前完成即可进入收尾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提交成功以后，要分别核对这个 run ID 下两个任务的判定和证据。下表只对照重玩主线，英文场景的结算检查需要单独查看。归档实测对照中，正常时得分为零，缺陷时保留十分，恢复后在云端重新回到零。我们始终保留原来的验收要求，用再次执行验证应用恢复。现在查看本次云端结果，分别确认主线的得分清零与英文场景的结算检查。整个 run 的状态不能代替各任务的具体判定。执行地点改变了，这种按用例核对结果的工作方式仍然可以复用。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按 D7 短 status 后再选择 --wait，所有查询使用 DEMO_CLOUD_RUN。本表是已有 Midscene 主线归档，不含 Nova Act 结果；若本次 27 分钟仍未终态，明确切换历史材料并会后回收，不混用 run ID。不得用更改期望来让测试通过。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提醒提交与通过的区别 → 同一 run ID 下两个任务各自的 status、explain、报告 → 回 PPT 对照三次验证，归纳原期望保持不变。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evidence.zip baseline/explain.json、fault/explain.json、cloud-explain.json、cloud-status.json；归档 cloud run 20261001T055427Z-8c8597。；线性图标沿用价值与方法 Deck 的 Lucide 图标，授权见 assets/icons/LICENSE.txt。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欢迎试用与复现资料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【控场】28:00–30:00；收尾可提前结束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【口播】</a:t>
            </a:r>
          </a:p>
          <a:p xmlns:a="http://schemas.openxmlformats.org/drawingml/2006/main">
            <a:r>
              <a:t>本次演示到这里。演示项目保存了需求、用例、确定性步骤代码，以及按顺序运行、读取反馈和恢复应用的 runbook。可以用同一套材料复现这条流程，再替换成自己的业务要求。gherkai 主项目地址在页眉，演示项目地址在这里。感谢观看。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【操作提示，不口播】</a:t>
            </a:r>
          </a:p>
          <a:p xmlns:a="http://schemas.openxmlformats.org/drawingml/2006/main">
            <a:r>
              <a:t>现场打开 demo 仓库的 runbook 与材料入口，停止引入新概念。收回仍运行任务的最终结果并确认应用恢复。视频制作完成后再添加真实成片入口。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【画面切换】</a:t>
            </a:r>
          </a:p>
          <a:p xmlns:a="http://schemas.openxmlformats.org/drawingml/2006/main">
            <a:r>
              <a:t>PPT 欢迎试用 → 仓库 runbook 和资料入口 → PPT 封底结束。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docs/demo-runbook.md；features/result.feature；steps/；github.com/zhiyanliu/gherkai-webapp-demo。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1b74270494c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ecd398b1f4d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0481cbc4e47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76cf619314f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d5bfd0bec4c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ca12ce6bd448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d74c546244cc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859d78b274f6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04cc609374dc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9382e5a6d4ef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d0f1723c5476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763b209e3406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f70b24b854f67" /></Relationships>
</file>

<file path=ppt/slideLayouts/slideLayout1.xml><?xml version="1.0" encoding="utf-8"?>
<p:sldLayout xmlns:p="http://schemas.openxmlformats.org/presentationml/2006/main">
  <p:cSld name="01 / Concept 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34A6F32-E906-44D9-BCF7-4569EBBE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962150"/>
            <a:ext cx="6400800" cy="2457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7133EFC-A09F-40EA-9E43-FEB48AB66B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4981575"/>
            <a:ext cx="65722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02 / Method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A1578C6-DB54-45D0-BC06-B0B94B1E1A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8582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BDDE602-3307-4C1F-8854-4EAFC462F8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571625"/>
            <a:ext cx="1091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03 / Execution Evid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1E5FDAD-FCFD-4259-BCEA-468A55B08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8582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5ECBEB1-76AB-4DFF-A31C-A595DE3A5E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571625"/>
            <a:ext cx="1091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11 / Discussion 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F2B4222-32C4-4184-8E0C-71FA90D09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8582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FA64999-BAF9-4A66-B4BC-CEABEB12CD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571625"/>
            <a:ext cx="1091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04 / Working Approach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E95FC81-6365-4E6A-9184-F9947DAA83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8582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9455186-2BE8-413A-A67A-4B8D27366F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571625"/>
            <a:ext cx="1091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05 / Shared Business C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2B666EC-A2AC-47A7-B3F8-CFC0735E1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8582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CF52ADD-FD95-4F5E-A68E-5D182506C0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571625"/>
            <a:ext cx="1091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06 / Repeated Execu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161F014-47A9-4E7E-A493-EF22A8800C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8582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04FC53E0-D080-479B-A9D9-4C9DF0C71F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571625"/>
            <a:ext cx="1091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7 / Agent Work Lo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E6F1F76-5B33-4CBE-93C0-0C5109AEE6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8582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0E493F3-2B39-4EC8-A568-EC36472E0B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571625"/>
            <a:ext cx="1091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8 / Local and Serv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36852D4-DB14-417E-9422-01E2FACC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8582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78287D-D5CE-4C31-AC97-AF2BC356C6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571625"/>
            <a:ext cx="1091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9 / Execution Boundar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84FFA3D-4F73-4F66-97DD-22628BF65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8582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E578D66-CDFC-4877-A3FC-E4A1AB5B28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571625"/>
            <a:ext cx="1091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10 / Business Pilo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FB6F55-CB80-4A8D-AB36-48050F0753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8582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8C75BF3-0FCD-4CDE-8859-46C247B012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571625"/>
            <a:ext cx="1091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12 / Method and Shared Capabil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B0DDA1A5-4C88-4F30-A3E4-382B7574BA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028700"/>
            <a:ext cx="109728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10D0FD1-EE5A-4200-83CD-1386429C83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704975"/>
            <a:ext cx="1091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13 / Four Method Princip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03417DC-C3CD-4266-AEB7-BB4EA8C9F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028700"/>
            <a:ext cx="109728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5A9BD78-E9D9-4F68-83CC-8EB473984D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8175" y="1704975"/>
            <a:ext cx="1091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49464129e5463e" /><Relationship Type="http://schemas.openxmlformats.org/officeDocument/2006/relationships/slideLayout" Target="/ppt/slideLayouts/slideLayout1.xml" Id="R9473b6b224b9476c" /><Relationship Type="http://schemas.openxmlformats.org/officeDocument/2006/relationships/slideLayout" Target="/ppt/slideLayouts/slideLayout2.xml" Id="R8ca3f06da7274b55" /><Relationship Type="http://schemas.openxmlformats.org/officeDocument/2006/relationships/slideLayout" Target="/ppt/slideLayouts/slideLayout3.xml" Id="R1ec673b111fb4754" /><Relationship Type="http://schemas.openxmlformats.org/officeDocument/2006/relationships/slideLayout" Target="/ppt/slideLayouts/slideLayout4.xml" Id="Re74583e47d0248f7" /><Relationship Type="http://schemas.openxmlformats.org/officeDocument/2006/relationships/slideLayout" Target="/ppt/slideLayouts/slideLayout5.xml" Id="R5683a56aad714f80" /><Relationship Type="http://schemas.openxmlformats.org/officeDocument/2006/relationships/slideLayout" Target="/ppt/slideLayouts/slideLayout6.xml" Id="R77cedc3786674172" /><Relationship Type="http://schemas.openxmlformats.org/officeDocument/2006/relationships/slideLayout" Target="/ppt/slideLayouts/slideLayout7.xml" Id="R3ac44ae358cd49b5" /><Relationship Type="http://schemas.openxmlformats.org/officeDocument/2006/relationships/slideLayout" Target="/ppt/slideLayouts/slideLayout8.xml" Id="R4da5fcee53a741f7" /><Relationship Type="http://schemas.openxmlformats.org/officeDocument/2006/relationships/slideLayout" Target="/ppt/slideLayouts/slideLayout9.xml" Id="R37922bdebee2483d" /><Relationship Type="http://schemas.openxmlformats.org/officeDocument/2006/relationships/slideLayout" Target="/ppt/slideLayouts/slideLayout10.xml" Id="R0df10a5e703b4bf5" /><Relationship Type="http://schemas.openxmlformats.org/officeDocument/2006/relationships/slideLayout" Target="/ppt/slideLayouts/slideLayout11.xml" Id="Raed46380e03e4d0f" /><Relationship Type="http://schemas.openxmlformats.org/officeDocument/2006/relationships/slideLayout" Target="/ppt/slideLayouts/slideLayout12.xml" Id="R3b910cc149e04863" /><Relationship Type="http://schemas.openxmlformats.org/officeDocument/2006/relationships/slideLayout" Target="/ppt/slideLayouts/slideLayout13.xml" Id="R71fcf30a2d8e4991" /></Relationships>
</file>

<file path=ppt/slideMasters/slideMaster1.xml><?xml version="1.0" encoding="utf-8"?>
<p:sldMaster xmlns:p="http://schemas.openxmlformats.org/presentationml/2006/main">
  <p:cSld name="gherkai / Spectrum Light">
    <p:bg>
      <p:bgPr>
        <a:gradFill xmlns:a="http://schemas.openxmlformats.org/drawingml/2006/main">
          <a:gsLst>
            <a:gs pos="0">
              <a:srgbClr val="D9B8F4"/>
            </a:gs>
            <a:gs pos="23000">
              <a:srgbClr val="EEE0FC"/>
            </a:gs>
            <a:gs pos="46000">
              <a:srgbClr val="FBF8FF"/>
            </a:gs>
            <a:gs pos="72000">
              <a:srgbClr val="E2F0FF"/>
            </a:gs>
            <a:gs pos="100000">
              <a:srgbClr val="ACD5F2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rand-gherkai">
            <a:extLst xmlns:a="http://schemas.openxmlformats.org/drawingml/2006/main">
              <a:ext uri="{FF2B5EF4-FFF2-40B4-BE49-F238E27FC236}">
                <a16:creationId xmlns:a16="http://schemas.microsoft.com/office/drawing/2014/main" id="{99E57854-7794-40A6-88CB-8FBC1D50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E2C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4E2C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E2C9A"/>
                </a:solidFill>
                <a:latin typeface="Helvetica Neue"/>
                <a:ea typeface="Helvetica Neue"/>
                <a:cs typeface="Helvetica Neue"/>
              </a:rPr>
              <a:t>gherkai</a:t>
            </a:r>
          </a:p>
        </p:txBody>
      </p:sp>
      <p:sp>
        <p:nvSpPr>
          <p:cNvPr id="2" name="brand-section">
            <a:extLst xmlns:a="http://schemas.openxmlformats.org/drawingml/2006/main">
              <a:ext uri="{FF2B5EF4-FFF2-40B4-BE49-F238E27FC236}">
                <a16:creationId xmlns:a16="http://schemas.microsoft.com/office/drawing/2014/main" id="{604F7178-FDF1-4C06-AA66-4DF99C8D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9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工作方法演示</a:t>
            </a:r>
          </a:p>
        </p:txBody>
      </p:sp>
      <p:sp>
        <p:nvSpPr>
          <p:cNvPr id="3" name="brand-header-rule">
            <a:extLst xmlns:a="http://schemas.openxmlformats.org/drawingml/2006/main">
              <a:ext uri="{FF2B5EF4-FFF2-40B4-BE49-F238E27FC236}">
                <a16:creationId xmlns:a16="http://schemas.microsoft.com/office/drawing/2014/main" id="{FDBAEB94-4D96-4C80-98E2-6ECC4F38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285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98ADD"/>
              </a:gs>
              <a:gs pos="57000">
                <a:srgbClr val="7D45EC"/>
              </a:gs>
              <a:gs pos="100000">
                <a:srgbClr val="E348B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B4AF0126-48FA-4D6E-9AAE-F9696829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repo-header-link">
            <a:extLst xmlns:a="http://schemas.openxmlformats.org/drawingml/2006/main">
              <a:ext uri="{FF2B5EF4-FFF2-40B4-BE49-F238E27FC236}">
                <a16:creationId xmlns:a16="http://schemas.microsoft.com/office/drawing/2014/main" id="{5B99BE83-121C-4891-A165-13E8694A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4788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70658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706582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706582"/>
                </a:solidFill>
                <a:latin typeface="Menlo"/>
                <a:ea typeface="Menlo"/>
                <a:cs typeface="Menlo"/>
              </a:rPr>
              <a:t>github.com/zhiyanliu/gherkai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73b6b224b9476c"/>
    <p:sldLayoutId xmlns:r="http://schemas.openxmlformats.org/officeDocument/2006/relationships" id="2147483650" r:id="R8ca3f06da7274b55"/>
    <p:sldLayoutId xmlns:r="http://schemas.openxmlformats.org/officeDocument/2006/relationships" id="2147483651" r:id="R1ec673b111fb4754"/>
    <p:sldLayoutId xmlns:r="http://schemas.openxmlformats.org/officeDocument/2006/relationships" id="2147483652" r:id="Re74583e47d0248f7"/>
    <p:sldLayoutId xmlns:r="http://schemas.openxmlformats.org/officeDocument/2006/relationships" id="2147483653" r:id="R5683a56aad714f80"/>
    <p:sldLayoutId xmlns:r="http://schemas.openxmlformats.org/officeDocument/2006/relationships" id="2147483654" r:id="R77cedc3786674172"/>
    <p:sldLayoutId xmlns:r="http://schemas.openxmlformats.org/officeDocument/2006/relationships" id="2147483655" r:id="R3ac44ae358cd49b5"/>
    <p:sldLayoutId xmlns:r="http://schemas.openxmlformats.org/officeDocument/2006/relationships" id="2147483656" r:id="R4da5fcee53a741f7"/>
    <p:sldLayoutId xmlns:r="http://schemas.openxmlformats.org/officeDocument/2006/relationships" id="2147483657" r:id="R37922bdebee2483d"/>
    <p:sldLayoutId xmlns:r="http://schemas.openxmlformats.org/officeDocument/2006/relationships" id="2147483658" r:id="R0df10a5e703b4bf5"/>
    <p:sldLayoutId xmlns:r="http://schemas.openxmlformats.org/officeDocument/2006/relationships" id="2147483659" r:id="Raed46380e03e4d0f"/>
    <p:sldLayoutId xmlns:r="http://schemas.openxmlformats.org/officeDocument/2006/relationships" id="2147483660" r:id="R3b910cc149e04863"/>
    <p:sldLayoutId xmlns:r="http://schemas.openxmlformats.org/officeDocument/2006/relationships" id="2147483661" r:id="R71fcf30a2d8e4991"/>
  </p:sldLayoutIdLst>
</p:sldMaster>
</file>

<file path=ppt/slideMasters/theme/theme2.xml><?xml version="1.0" encoding="utf-8"?>
<a:theme xmlns:a="http://schemas.openxmlformats.org/drawingml/2006/main" name="ChatGPT">
  <a:themeElements>
    <a:clrScheme name="gherkai Spectrum">
      <a:dk1>
        <a:srgbClr val="252644"/>
      </a:dk1>
      <a:lt1>
        <a:srgbClr val="FCFBFF"/>
      </a:lt1>
      <a:dk2>
        <a:srgbClr val="63677F"/>
      </a:dk2>
      <a:lt2>
        <a:srgbClr val="EEE8FA"/>
      </a:lt2>
      <a:accent1>
        <a:srgbClr val="7240D9"/>
      </a:accent1>
      <a:accent2>
        <a:srgbClr val="BB4E18"/>
      </a:accent2>
      <a:accent3>
        <a:srgbClr val="087F9E"/>
      </a:accent3>
      <a:accent4>
        <a:srgbClr val="9B93B3"/>
      </a:accent4>
      <a:accent5>
        <a:srgbClr val="6098BB"/>
      </a:accent5>
      <a:accent6>
        <a:srgbClr val="9692BA"/>
      </a:accent6>
      <a:hlink>
        <a:srgbClr val="7240D9"/>
      </a:hlink>
      <a:folHlink>
        <a:srgbClr val="B9A7E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gherkai Spectr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4279cd5164fab" /><Relationship Type="http://schemas.openxmlformats.org/officeDocument/2006/relationships/image" Target="/ppt/media/image.jpeg" Id="R058f18b43d544c75" /><Relationship Type="http://schemas.openxmlformats.org/officeDocument/2006/relationships/hyperlink" Target="https://github.com/zhiyanliu/gherkai" TargetMode="External" Id="Ra6afbea381684119" /><Relationship Type="http://schemas.openxmlformats.org/officeDocument/2006/relationships/notesSlide" Target="/ppt/notesSlides/notesSlide1.xml" Id="Rf04467ad795f4e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5dfb2dadd0b4ae9" /><Relationship Type="http://schemas.openxmlformats.org/officeDocument/2006/relationships/image" Target="/ppt/media/image.png" Id="Rcef0e87ae97f4966" /><Relationship Type="http://schemas.openxmlformats.org/officeDocument/2006/relationships/image" Target="/ppt/media/image2.jpeg" Id="Rad778e75b9dd477b" /><Relationship Type="http://schemas.openxmlformats.org/officeDocument/2006/relationships/notesSlide" Target="/ppt/notesSlides/notesSlide2.xml" Id="R9d89f9e3cb2742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0ab8ddb91204fdc" /><Relationship Type="http://schemas.openxmlformats.org/officeDocument/2006/relationships/image" Target="/ppt/media/image2.png" Id="Ra49f61f1ee314235" /><Relationship Type="http://schemas.openxmlformats.org/officeDocument/2006/relationships/notesSlide" Target="/ppt/notesSlides/notesSlide3.xml" Id="R3ee44eb8fde343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78017e0a44fe1" /><Relationship Type="http://schemas.openxmlformats.org/officeDocument/2006/relationships/image" Target="/ppt/media/image3.png" Id="R3181a6e2e2244ffb" /><Relationship Type="http://schemas.openxmlformats.org/officeDocument/2006/relationships/notesSlide" Target="/ppt/notesSlides/notesSlide4.xml" Id="R0d346848606945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1b5a4d0841451c" /><Relationship Type="http://schemas.openxmlformats.org/officeDocument/2006/relationships/image" Target="/ppt/media/image4.png" Id="Rdb22de486c684688" /><Relationship Type="http://schemas.openxmlformats.org/officeDocument/2006/relationships/notesSlide" Target="/ppt/notesSlides/notesSlide5.xml" Id="R7e3ddb685e124e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f571c80bb345a3" /><Relationship Type="http://schemas.openxmlformats.org/officeDocument/2006/relationships/image" Target="/ppt/media/image5.png" Id="R6a1719313abc42c0" /><Relationship Type="http://schemas.openxmlformats.org/officeDocument/2006/relationships/notesSlide" Target="/ppt/notesSlides/notesSlide6.xml" Id="R93873d8ffa4d41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0d0fa918e4149af" /><Relationship Type="http://schemas.openxmlformats.org/officeDocument/2006/relationships/image" Target="/ppt/media/image6.png" Id="R2758b409f09a4843" /><Relationship Type="http://schemas.openxmlformats.org/officeDocument/2006/relationships/image" Target="/ppt/media/image3.jpeg" Id="R1428a453e0f042c4" /><Relationship Type="http://schemas.openxmlformats.org/officeDocument/2006/relationships/notesSlide" Target="/ppt/notesSlides/notesSlide7.xml" Id="R116770ff992a4a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51ef2a4fc044c4" /><Relationship Type="http://schemas.openxmlformats.org/officeDocument/2006/relationships/image" Target="/ppt/media/image7.png" Id="Rbf14ffdc9e4a4453" /><Relationship Type="http://schemas.openxmlformats.org/officeDocument/2006/relationships/image" Target="/ppt/media/image4.jpeg" Id="R2e04febaa1b34c54" /><Relationship Type="http://schemas.openxmlformats.org/officeDocument/2006/relationships/image" Target="/ppt/media/image8.png" Id="R398388bbf62c4661" /><Relationship Type="http://schemas.openxmlformats.org/officeDocument/2006/relationships/notesSlide" Target="/ppt/notesSlides/notesSlide8.xml" Id="Re84684e880c24d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9707cfd063b4fa0" /><Relationship Type="http://schemas.openxmlformats.org/officeDocument/2006/relationships/image" Target="/ppt/media/image9.png" Id="Rc217f260ba4e4c09" /><Relationship Type="http://schemas.openxmlformats.org/officeDocument/2006/relationships/notesSlide" Target="/ppt/notesSlides/notesSlide9.xml" Id="Re04381db559e4c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729c915a3e54ddf" /><Relationship Type="http://schemas.openxmlformats.org/officeDocument/2006/relationships/image" Target="/ppt/media/image10.png" Id="R6471660745fb4b39" /><Relationship Type="http://schemas.openxmlformats.org/officeDocument/2006/relationships/notesSlide" Target="/ppt/notesSlides/notesSlide10.xml" Id="Rccbbd8a85f1640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13500d028b6401b" /><Relationship Type="http://schemas.openxmlformats.org/officeDocument/2006/relationships/image" Target="/ppt/media/image11.png" Id="R524254e234d94caf" /><Relationship Type="http://schemas.openxmlformats.org/officeDocument/2006/relationships/notesSlide" Target="/ppt/notesSlides/notesSlide11.xml" Id="Re144c5dfcc3042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0028224e114f02" /><Relationship Type="http://schemas.openxmlformats.org/officeDocument/2006/relationships/image" Target="/ppt/media/image12.png" Id="Ra4786d5c1dbc45f3" /><Relationship Type="http://schemas.openxmlformats.org/officeDocument/2006/relationships/notesSlide" Target="/ppt/notesSlides/notesSlide12.xml" Id="Rbd17b5f693a34d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e7ffd26624d04" /><Relationship Type="http://schemas.openxmlformats.org/officeDocument/2006/relationships/image" Target="/ppt/media/image13.png" Id="R5687d782f00b4b72" /><Relationship Type="http://schemas.openxmlformats.org/officeDocument/2006/relationships/hyperlink" Target="https://github.com/zhiyanliu/gherkai" TargetMode="External" Id="R2e6a1b41c8b547f5" /><Relationship Type="http://schemas.openxmlformats.org/officeDocument/2006/relationships/notesSlide" Target="/ppt/notesSlides/notesSlide13.xml" Id="R4874dc3908f04d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035AD-A4B3-4335-A7DE-EC5082CD5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f18b43d544c75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color-wash">
            <a:extLst xmlns:a="http://schemas.openxmlformats.org/drawingml/2006/main">
              <a:ext uri="{FF2B5EF4-FFF2-40B4-BE49-F238E27FC236}">
                <a16:creationId xmlns:a16="http://schemas.microsoft.com/office/drawing/2014/main" id="{4BD1E29C-D8E0-43E3-A09E-59505F00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E82E8">
                  <a:alpha val="45000"/>
                </a:srgbClr>
              </a:gs>
              <a:gs pos="23000">
                <a:srgbClr val="D8BEF5">
                  <a:alpha val="24000"/>
                </a:srgbClr>
              </a:gs>
              <a:gs pos="46000">
                <a:srgbClr val="FFFFFF">
                  <a:alpha val="0"/>
                </a:srgbClr>
              </a:gs>
              <a:gs pos="72000">
                <a:srgbClr val="A8CEF5">
                  <a:alpha val="12000"/>
                </a:srgbClr>
              </a:gs>
              <a:gs pos="100000">
                <a:srgbClr val="64B9E8">
                  <a:alpha val="38000"/>
                </a:srgbClr>
              </a:gs>
            </a:gsLst>
            <a:lin ang="8700000"/>
          </a:gradFill>
          <a:ln xmlns:a="http://schemas.openxmlformats.org/drawingml/2006/main" w="0">
            <a:noFill/>
          </a:ln>
        </p:spPr>
      </p:sp>
      <p:sp>
        <p:nvSpPr>
          <p:cNvPr id="6" name="brand-gherkai">
            <a:extLst xmlns:a="http://schemas.openxmlformats.org/drawingml/2006/main">
              <a:ext uri="{FF2B5EF4-FFF2-40B4-BE49-F238E27FC236}">
                <a16:creationId xmlns:a16="http://schemas.microsoft.com/office/drawing/2014/main" id="{E948E7F7-09C9-4D34-8586-E901F65E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E2C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4E2C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E2C9A"/>
                </a:solidFill>
                <a:latin typeface="Helvetica Neue"/>
                <a:ea typeface="Helvetica Neue"/>
                <a:cs typeface="Helvetica Neue"/>
              </a:rPr>
              <a:t>gherkai</a:t>
            </a:r>
          </a:p>
        </p:txBody>
      </p:sp>
      <p:sp>
        <p:nvSpPr>
          <p:cNvPr id="7" name="brand-section">
            <a:extLst xmlns:a="http://schemas.openxmlformats.org/drawingml/2006/main">
              <a:ext uri="{FF2B5EF4-FFF2-40B4-BE49-F238E27FC236}">
                <a16:creationId xmlns:a16="http://schemas.microsoft.com/office/drawing/2014/main" id="{57DEA1A2-23AB-4032-B06A-12C2D138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工作方法演示</a:t>
            </a:r>
          </a:p>
        </p:txBody>
      </p:sp>
      <p:sp>
        <p:nvSpPr>
          <p:cNvPr id="8" name="brand-header-rule">
            <a:extLst xmlns:a="http://schemas.openxmlformats.org/drawingml/2006/main">
              <a:ext uri="{FF2B5EF4-FFF2-40B4-BE49-F238E27FC236}">
                <a16:creationId xmlns:a16="http://schemas.microsoft.com/office/drawing/2014/main" id="{58718CB7-E52E-4165-A66F-EC81620C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98ADD"/>
              </a:gs>
              <a:gs pos="57000">
                <a:srgbClr val="7D45EC"/>
              </a:gs>
              <a:gs pos="100000">
                <a:srgbClr val="E348B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9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A9E26DE9-7A5B-478D-914D-7096939D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sp>
        <p:nvSpPr>
          <p:cNvPr id="13" name="repo-header-link">
            <a:hlinkClick xmlns:r="http://schemas.openxmlformats.org/officeDocument/2006/relationships" xmlns:a="http://schemas.openxmlformats.org/drawingml/2006/main" r:id="Ra6afbea381684119"/>
            <a:extLst xmlns:a="http://schemas.openxmlformats.org/drawingml/2006/main">
              <a:ext uri="{FF2B5EF4-FFF2-40B4-BE49-F238E27FC236}">
                <a16:creationId xmlns:a16="http://schemas.microsoft.com/office/drawing/2014/main" id="{64E27BBF-1BBE-475D-A17B-B7D391A6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8613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70658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706582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706582"/>
                </a:solidFill>
                <a:latin typeface="Menlo"/>
                <a:ea typeface="Menlo"/>
                <a:cs typeface="Menlo"/>
              </a:rPr>
              <a:t>github.com/zhiyanliu/gherkai</a:t>
            </a:r>
          </a:p>
        </p:txBody>
      </p:sp>
      <p:sp>
        <p:nvSpPr>
          <p:cNvPr id="1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D4A09E9-3581-447A-BADE-873D3DC3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335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识字挑战应用端到端测试</a:t>
            </a:r>
          </a:p>
        </p:txBody>
      </p:sp>
      <p:sp>
        <p:nvSpPr>
          <p:cNvPr id="1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4A17374-975A-45FC-84C7-B663ABD7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67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gherkai 测试工作流</a:t>
            </a:r>
          </a:p>
          <a:p xmlns:a="http://schemas.openxmlformats.org/drawingml/2006/main">
            <a:pPr algn="l">
              <a:buNone/>
              <a:defRPr sz="367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完整演示</a:t>
            </a:r>
          </a:p>
        </p:txBody>
      </p:sp>
      <p:sp>
        <p:nvSpPr>
          <p:cNvPr id="1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1E0C20B-0FC0-4838-B645-0D7994C2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33875"/>
            <a:ext cx="670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依据需求生成用例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实际执行、失败反馈与云端复验</a:t>
            </a:r>
          </a:p>
        </p:txBody>
      </p:sp>
      <p:sp>
        <p:nvSpPr>
          <p:cNvPr id="17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1B804F94-CA42-4CF0-B3F1-89034AD9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72150"/>
            <a:ext cx="670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本机迭代与多引擎云端执行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CCCE4D-5C3E-4082-AAAA-97E757B2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09966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2BC7ECAA-6EDB-4370-86BB-FABFB7AC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09C29-BF12-4692-838F-74C08BB492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0e87ae97f4966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5D122284-4129-4857-B7B1-32BA4B10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验证目标</a:t>
            </a:r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E97B1466-382E-44F9-B368-F7D9CD1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点了“再玩一次”，新一轮真的开始了吗？</a:t>
            </a:r>
          </a:p>
        </p:txBody>
      </p:sp>
      <p:sp>
        <p:nvSpPr>
          <p:cNvPr id="5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E071DB5-C3E6-4615-B468-B68985EB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识字大挑战：完成一组题 → 再玩一次 → 再次完成 → 返回主页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92E575-328E-492E-AE29-2A944901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5776B-1175-4E7C-9A87-67CB257ECF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78e75b9dd477b"/>
          <a:stretch xmlns:a="http://schemas.openxmlformats.org/drawingml/2006/main"/>
        </p:blipFill>
        <p:spPr>
          <a:xfrm xmlns:a="http://schemas.openxmlformats.org/drawingml/2006/main">
            <a:off x="609600" y="2353277"/>
            <a:ext cx="4762500" cy="2394334"/>
          </a:xfrm>
          <a:prstGeom xmlns:a="http://schemas.openxmlformats.org/drawingml/2006/main" prst="rect">
            <a:avLst/>
          </a:prstGeom>
        </p:spPr>
      </p:pic>
      <p:sp>
        <p:nvSpPr>
          <p:cNvPr id="8" name="tag-业务期望">
            <a:extLst xmlns:a="http://schemas.openxmlformats.org/drawingml/2006/main">
              <a:ext uri="{FF2B5EF4-FFF2-40B4-BE49-F238E27FC236}">
                <a16:creationId xmlns:a16="http://schemas.microsoft.com/office/drawing/2014/main" id="{599DB1B0-B8EB-40E6-B6D1-29E62E7C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1181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</a:ln>
        </p:spPr>
      </p:sp>
      <p:sp>
        <p:nvSpPr>
          <p:cNvPr id="9" name="tag-label-业务期望">
            <a:extLst xmlns:a="http://schemas.openxmlformats.org/drawingml/2006/main">
              <a:ext uri="{FF2B5EF4-FFF2-40B4-BE49-F238E27FC236}">
                <a16:creationId xmlns:a16="http://schemas.microsoft.com/office/drawing/2014/main" id="{FCA65DC9-8051-4871-9DC3-25FF8489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52675"/>
            <a:ext cx="102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业务期望</a:t>
            </a:r>
          </a:p>
        </p:txBody>
      </p:sp>
      <p:sp>
        <p:nvSpPr>
          <p:cNvPr id="10" name="expected-progress">
            <a:extLst xmlns:a="http://schemas.openxmlformats.org/drawingml/2006/main">
              <a:ext uri="{FF2B5EF4-FFF2-40B4-BE49-F238E27FC236}">
                <a16:creationId xmlns:a16="http://schemas.microsoft.com/office/drawing/2014/main" id="{4E65DAAA-BE89-44BC-A47E-93BE817A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90825"/>
            <a:ext cx="567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进度回到 1 / 10</a:t>
            </a:r>
          </a:p>
        </p:txBody>
      </p:sp>
      <p:sp>
        <p:nvSpPr>
          <p:cNvPr id="11" name="expected-score">
            <a:extLst xmlns:a="http://schemas.openxmlformats.org/drawingml/2006/main">
              <a:ext uri="{FF2B5EF4-FFF2-40B4-BE49-F238E27FC236}">
                <a16:creationId xmlns:a16="http://schemas.microsoft.com/office/drawing/2014/main" id="{E9B966D3-1587-47EB-A656-93F9D87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09950"/>
            <a:ext cx="567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得分清零</a:t>
            </a:r>
          </a:p>
        </p:txBody>
      </p:sp>
      <p:sp>
        <p:nvSpPr>
          <p:cNvPr id="12" name="expected-home">
            <a:extLst xmlns:a="http://schemas.openxmlformats.org/drawingml/2006/main">
              <a:ext uri="{FF2B5EF4-FFF2-40B4-BE49-F238E27FC236}">
                <a16:creationId xmlns:a16="http://schemas.microsoft.com/office/drawing/2014/main" id="{117BDA9D-22FB-402D-A88D-6386762A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38625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再次完成后，能够返回主页</a:t>
            </a:r>
          </a:p>
        </p:txBody>
      </p:sp>
      <p:sp>
        <p:nvSpPr>
          <p:cNvPr id="13" name="route-0">
            <a:extLst xmlns:a="http://schemas.openxmlformats.org/drawingml/2006/main">
              <a:ext uri="{FF2B5EF4-FFF2-40B4-BE49-F238E27FC236}">
                <a16:creationId xmlns:a16="http://schemas.microsoft.com/office/drawing/2014/main" id="{2AAACB2C-06EE-43DA-A922-0B668B33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C"/>
          </a:solidFill>
          <a:ln xmlns:a="http://schemas.openxmlformats.org/drawingml/2006/main" w="0">
            <a:noFill/>
          </a:ln>
        </p:spPr>
      </p:sp>
      <p:sp>
        <p:nvSpPr>
          <p:cNvPr id="14" name="route-text-0">
            <a:extLst xmlns:a="http://schemas.openxmlformats.org/drawingml/2006/main">
              <a:ext uri="{FF2B5EF4-FFF2-40B4-BE49-F238E27FC236}">
                <a16:creationId xmlns:a16="http://schemas.microsoft.com/office/drawing/2014/main" id="{1ED481CD-5DC2-452D-9BD6-1F321CF6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101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01 明确期望</a:t>
            </a:r>
          </a:p>
        </p:txBody>
      </p:sp>
      <p:sp>
        <p:nvSpPr>
          <p:cNvPr id="15" name="route-arrow-0">
            <a:extLst xmlns:a="http://schemas.openxmlformats.org/drawingml/2006/main">
              <a:ext uri="{FF2B5EF4-FFF2-40B4-BE49-F238E27FC236}">
                <a16:creationId xmlns:a16="http://schemas.microsoft.com/office/drawing/2014/main" id="{F9B80773-6A4C-4E00-BA2D-40A96F7D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3625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16" name="route-1">
            <a:extLst xmlns:a="http://schemas.openxmlformats.org/drawingml/2006/main">
              <a:ext uri="{FF2B5EF4-FFF2-40B4-BE49-F238E27FC236}">
                <a16:creationId xmlns:a16="http://schemas.microsoft.com/office/drawing/2014/main" id="{435B4804-F317-4326-A380-FA558C5A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0175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</a:ln>
        </p:spPr>
      </p:sp>
      <p:sp>
        <p:nvSpPr>
          <p:cNvPr id="17" name="route-text-1">
            <a:extLst xmlns:a="http://schemas.openxmlformats.org/drawingml/2006/main">
              <a:ext uri="{FF2B5EF4-FFF2-40B4-BE49-F238E27FC236}">
                <a16:creationId xmlns:a16="http://schemas.microsoft.com/office/drawing/2014/main" id="{A1943A20-62B2-46BB-BAEB-C5AE6DC1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2101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02 形成用例</a:t>
            </a:r>
          </a:p>
        </p:txBody>
      </p:sp>
      <p:sp>
        <p:nvSpPr>
          <p:cNvPr id="18" name="route-arrow-1">
            <a:extLst xmlns:a="http://schemas.openxmlformats.org/drawingml/2006/main">
              <a:ext uri="{FF2B5EF4-FFF2-40B4-BE49-F238E27FC236}">
                <a16:creationId xmlns:a16="http://schemas.microsoft.com/office/drawing/2014/main" id="{017E2DFC-990C-443F-8D3E-B0927D55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3625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19" name="route-2">
            <a:extLst xmlns:a="http://schemas.openxmlformats.org/drawingml/2006/main">
              <a:ext uri="{FF2B5EF4-FFF2-40B4-BE49-F238E27FC236}">
                <a16:creationId xmlns:a16="http://schemas.microsoft.com/office/drawing/2014/main" id="{62E7E119-57AC-4A4C-9AAA-3D050754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10175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C"/>
          </a:solidFill>
          <a:ln xmlns:a="http://schemas.openxmlformats.org/drawingml/2006/main" w="0">
            <a:noFill/>
          </a:ln>
        </p:spPr>
      </p:sp>
      <p:sp>
        <p:nvSpPr>
          <p:cNvPr id="20" name="route-text-2">
            <a:extLst xmlns:a="http://schemas.openxmlformats.org/drawingml/2006/main">
              <a:ext uri="{FF2B5EF4-FFF2-40B4-BE49-F238E27FC236}">
                <a16:creationId xmlns:a16="http://schemas.microsoft.com/office/drawing/2014/main" id="{79F9FA9D-0FD4-4288-9FFE-8632334B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01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03 实际执行</a:t>
            </a:r>
          </a:p>
        </p:txBody>
      </p:sp>
      <p:sp>
        <p:nvSpPr>
          <p:cNvPr id="21" name="route-arrow-2">
            <a:extLst xmlns:a="http://schemas.openxmlformats.org/drawingml/2006/main">
              <a:ext uri="{FF2B5EF4-FFF2-40B4-BE49-F238E27FC236}">
                <a16:creationId xmlns:a16="http://schemas.microsoft.com/office/drawing/2014/main" id="{ADCCB413-B992-4BB3-B0E8-EA252419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3625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22" name="route-3">
            <a:extLst xmlns:a="http://schemas.openxmlformats.org/drawingml/2006/main">
              <a:ext uri="{FF2B5EF4-FFF2-40B4-BE49-F238E27FC236}">
                <a16:creationId xmlns:a16="http://schemas.microsoft.com/office/drawing/2014/main" id="{3E1D5242-09D4-4175-BB67-2C56A2D9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10175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</a:ln>
        </p:spPr>
      </p:sp>
      <p:sp>
        <p:nvSpPr>
          <p:cNvPr id="23" name="route-text-3">
            <a:extLst xmlns:a="http://schemas.openxmlformats.org/drawingml/2006/main">
              <a:ext uri="{FF2B5EF4-FFF2-40B4-BE49-F238E27FC236}">
                <a16:creationId xmlns:a16="http://schemas.microsoft.com/office/drawing/2014/main" id="{1936DBF2-7AA5-482F-B324-4169DC63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2101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04 反馈处置</a:t>
            </a:r>
          </a:p>
        </p:txBody>
      </p:sp>
      <p:sp>
        <p:nvSpPr>
          <p:cNvPr id="24" name="route-arrow-3">
            <a:extLst xmlns:a="http://schemas.openxmlformats.org/drawingml/2006/main">
              <a:ext uri="{FF2B5EF4-FFF2-40B4-BE49-F238E27FC236}">
                <a16:creationId xmlns:a16="http://schemas.microsoft.com/office/drawing/2014/main" id="{2A70262B-F91F-41A1-9E45-5A79C3B4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3625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25" name="route-4">
            <a:extLst xmlns:a="http://schemas.openxmlformats.org/drawingml/2006/main">
              <a:ext uri="{FF2B5EF4-FFF2-40B4-BE49-F238E27FC236}">
                <a16:creationId xmlns:a16="http://schemas.microsoft.com/office/drawing/2014/main" id="{EE3A0F04-8B1D-4B32-B800-9C592B7A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0175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C"/>
          </a:solidFill>
          <a:ln xmlns:a="http://schemas.openxmlformats.org/drawingml/2006/main" w="0">
            <a:noFill/>
          </a:ln>
        </p:spPr>
      </p:sp>
      <p:sp>
        <p:nvSpPr>
          <p:cNvPr id="26" name="route-text-4">
            <a:extLst xmlns:a="http://schemas.openxmlformats.org/drawingml/2006/main">
              <a:ext uri="{FF2B5EF4-FFF2-40B4-BE49-F238E27FC236}">
                <a16:creationId xmlns:a16="http://schemas.microsoft.com/office/drawing/2014/main" id="{5426FD64-21F3-4BAB-B951-D732FD4E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2101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05 云端复验</a:t>
            </a:r>
          </a:p>
        </p:txBody>
      </p:sp>
      <p:sp>
        <p:nvSpPr>
          <p:cNvPr id="27" name="route-arrow-4">
            <a:extLst xmlns:a="http://schemas.openxmlformats.org/drawingml/2006/main">
              <a:ext uri="{FF2B5EF4-FFF2-40B4-BE49-F238E27FC236}">
                <a16:creationId xmlns:a16="http://schemas.microsoft.com/office/drawing/2014/main" id="{3513CECE-ABB1-44C2-8257-D14C194C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3625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28" name="route-5">
            <a:extLst xmlns:a="http://schemas.openxmlformats.org/drawingml/2006/main">
              <a:ext uri="{FF2B5EF4-FFF2-40B4-BE49-F238E27FC236}">
                <a16:creationId xmlns:a16="http://schemas.microsoft.com/office/drawing/2014/main" id="{165F733E-8EE9-4626-AB6F-79596258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0175"/>
            <a:ext cx="1638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</a:ln>
        </p:spPr>
      </p:sp>
      <p:sp>
        <p:nvSpPr>
          <p:cNvPr id="29" name="route-text-5">
            <a:extLst xmlns:a="http://schemas.openxmlformats.org/drawingml/2006/main">
              <a:ext uri="{FF2B5EF4-FFF2-40B4-BE49-F238E27FC236}">
                <a16:creationId xmlns:a16="http://schemas.microsoft.com/office/drawing/2014/main" id="{2213F5B9-F894-4FF2-93F2-0FEB23EA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2101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06 多引擎执行</a:t>
            </a:r>
          </a:p>
        </p:txBody>
      </p:sp>
      <p:sp>
        <p:nvSpPr>
          <p:cNvPr id="30" name="three-runs">
            <a:extLst xmlns:a="http://schemas.openxmlformats.org/drawingml/2006/main">
              <a:ext uri="{FF2B5EF4-FFF2-40B4-BE49-F238E27FC236}">
                <a16:creationId xmlns:a16="http://schemas.microsoft.com/office/drawing/2014/main" id="{337C119B-E16C-4E78-B381-4AB39AEB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三次运行：本机正常、本机缺陷、云端复验（含英文场景）</a:t>
            </a:r>
          </a:p>
        </p:txBody>
      </p:sp>
    </p:spTree>
    <p:extLst>
      <p:ext uri="{BB962C8B-B14F-4D97-AF65-F5344CB8AC3E}">
        <p14:creationId xmlns:p14="http://schemas.microsoft.com/office/powerpoint/2010/main" val="11083749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12690F4A-79FF-4EC8-BCCA-5D27DDB8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796A9-A73E-401E-A050-8B44D0FD1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f61f1ee314235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D4224B61-4241-40E1-A2D7-36CECE7E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Agent 参与实现</a:t>
            </a:r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779BA2C1-2D99-4C22-A2F9-F57814F5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业务需求如何成为测试用例</a:t>
            </a:r>
          </a:p>
        </p:txBody>
      </p:sp>
      <p:sp>
        <p:nvSpPr>
          <p:cNvPr id="5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CF2E62B-DAEE-4488-967D-DFC291DC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产品需求确定验收口径，Agent + gherkai skill 编写用例与确定性步骤代码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B28581-D55A-42EE-A9A6-B9C376D0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7" name="tag-依据与范围">
            <a:extLst xmlns:a="http://schemas.openxmlformats.org/drawingml/2006/main">
              <a:ext uri="{FF2B5EF4-FFF2-40B4-BE49-F238E27FC236}">
                <a16:creationId xmlns:a16="http://schemas.microsoft.com/office/drawing/2014/main" id="{FA242172-20B6-4B61-BE85-19DD48E3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3105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C"/>
          </a:solidFill>
          <a:ln xmlns:a="http://schemas.openxmlformats.org/drawingml/2006/main" w="0">
            <a:noFill/>
          </a:ln>
        </p:spPr>
      </p:sp>
      <p:sp>
        <p:nvSpPr>
          <p:cNvPr id="8" name="tag-label-依据与范围">
            <a:extLst xmlns:a="http://schemas.openxmlformats.org/drawingml/2006/main">
              <a:ext uri="{FF2B5EF4-FFF2-40B4-BE49-F238E27FC236}">
                <a16:creationId xmlns:a16="http://schemas.microsoft.com/office/drawing/2014/main" id="{338E4970-21FD-4393-BC32-2DD6AEB6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依据与范围</a:t>
            </a:r>
          </a:p>
        </p:txBody>
      </p:sp>
      <p:sp>
        <p:nvSpPr>
          <p:cNvPr id="9" name="generation-0-bullet-0">
            <a:extLst xmlns:a="http://schemas.openxmlformats.org/drawingml/2006/main">
              <a:ext uri="{FF2B5EF4-FFF2-40B4-BE49-F238E27FC236}">
                <a16:creationId xmlns:a16="http://schemas.microsoft.com/office/drawing/2014/main" id="{607347DA-BC2F-44B9-9099-DEBB3FE3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0" name="generation-0-0">
            <a:extLst xmlns:a="http://schemas.openxmlformats.org/drawingml/2006/main">
              <a:ext uri="{FF2B5EF4-FFF2-40B4-BE49-F238E27FC236}">
                <a16:creationId xmlns:a16="http://schemas.microsoft.com/office/drawing/2014/main" id="{CA9C4E32-9477-4BD6-BC9C-4A18D429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1470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产品需求（验收依据）</a:t>
            </a:r>
          </a:p>
        </p:txBody>
      </p:sp>
      <p:sp>
        <p:nvSpPr>
          <p:cNvPr id="11" name="generation-0-bullet-1">
            <a:extLst xmlns:a="http://schemas.openxmlformats.org/drawingml/2006/main">
              <a:ext uri="{FF2B5EF4-FFF2-40B4-BE49-F238E27FC236}">
                <a16:creationId xmlns:a16="http://schemas.microsoft.com/office/drawing/2014/main" id="{71865D91-8CF1-4D08-AB5D-15B98379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2" name="generation-0-1">
            <a:extLst xmlns:a="http://schemas.openxmlformats.org/drawingml/2006/main">
              <a:ext uri="{FF2B5EF4-FFF2-40B4-BE49-F238E27FC236}">
                <a16:creationId xmlns:a16="http://schemas.microsoft.com/office/drawing/2014/main" id="{AF58083C-456C-4C82-9B90-A9661686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838575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本次测试范围</a:t>
            </a:r>
          </a:p>
        </p:txBody>
      </p:sp>
      <p:sp>
        <p:nvSpPr>
          <p:cNvPr id="13" name="generation-0-bullet-2">
            <a:extLst xmlns:a="http://schemas.openxmlformats.org/drawingml/2006/main">
              <a:ext uri="{FF2B5EF4-FFF2-40B4-BE49-F238E27FC236}">
                <a16:creationId xmlns:a16="http://schemas.microsoft.com/office/drawing/2014/main" id="{E21B824C-9E34-431F-BDFB-7BF6223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4" name="generation-0-2">
            <a:extLst xmlns:a="http://schemas.openxmlformats.org/drawingml/2006/main">
              <a:ext uri="{FF2B5EF4-FFF2-40B4-BE49-F238E27FC236}">
                <a16:creationId xmlns:a16="http://schemas.microsoft.com/office/drawing/2014/main" id="{CCF77302-E895-43EF-A006-9ABC8134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6245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项目测试约定</a:t>
            </a:r>
          </a:p>
        </p:txBody>
      </p:sp>
      <p:sp>
        <p:nvSpPr>
          <p:cNvPr id="15" name="generation-arrow-0">
            <a:extLst xmlns:a="http://schemas.openxmlformats.org/drawingml/2006/main">
              <a:ext uri="{FF2B5EF4-FFF2-40B4-BE49-F238E27FC236}">
                <a16:creationId xmlns:a16="http://schemas.microsoft.com/office/drawing/2014/main" id="{7F45DB2D-E58C-4530-B39F-45D37491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90525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16" name="tag-Agent + gherkai skill">
            <a:extLst xmlns:a="http://schemas.openxmlformats.org/drawingml/2006/main">
              <a:ext uri="{FF2B5EF4-FFF2-40B4-BE49-F238E27FC236}">
                <a16:creationId xmlns:a16="http://schemas.microsoft.com/office/drawing/2014/main" id="{9E868E0F-7D3C-47ED-B1DC-DD794BC7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0325"/>
            <a:ext cx="3105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</a:ln>
        </p:spPr>
      </p:sp>
      <p:sp>
        <p:nvSpPr>
          <p:cNvPr id="17" name="tag-label-Agent + gherkai skill">
            <a:extLst xmlns:a="http://schemas.openxmlformats.org/drawingml/2006/main">
              <a:ext uri="{FF2B5EF4-FFF2-40B4-BE49-F238E27FC236}">
                <a16:creationId xmlns:a16="http://schemas.microsoft.com/office/drawing/2014/main" id="{770622AF-920C-4C5C-8BF1-959E0A09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032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Agent + gherkai skill</a:t>
            </a:r>
          </a:p>
        </p:txBody>
      </p:sp>
      <p:sp>
        <p:nvSpPr>
          <p:cNvPr id="18" name="generation-1-bullet-0">
            <a:extLst xmlns:a="http://schemas.openxmlformats.org/drawingml/2006/main">
              <a:ext uri="{FF2B5EF4-FFF2-40B4-BE49-F238E27FC236}">
                <a16:creationId xmlns:a16="http://schemas.microsoft.com/office/drawing/2014/main" id="{F6A357CC-B25E-4F28-B5C0-D77013A8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14700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9" name="generation-1-0">
            <a:extLst xmlns:a="http://schemas.openxmlformats.org/drawingml/2006/main">
              <a:ext uri="{FF2B5EF4-FFF2-40B4-BE49-F238E27FC236}">
                <a16:creationId xmlns:a16="http://schemas.microsoft.com/office/drawing/2014/main" id="{3840B5B9-191A-4BE9-8D2B-0FFDE7D2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1470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编写 Gherkin 用例</a:t>
            </a:r>
          </a:p>
        </p:txBody>
      </p:sp>
      <p:sp>
        <p:nvSpPr>
          <p:cNvPr id="20" name="generation-1-bullet-1">
            <a:extLst xmlns:a="http://schemas.openxmlformats.org/drawingml/2006/main">
              <a:ext uri="{FF2B5EF4-FFF2-40B4-BE49-F238E27FC236}">
                <a16:creationId xmlns:a16="http://schemas.microsoft.com/office/drawing/2014/main" id="{760365FB-E43A-4B7C-A9C7-5E25C127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38575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21" name="generation-1-1">
            <a:extLst xmlns:a="http://schemas.openxmlformats.org/drawingml/2006/main">
              <a:ext uri="{FF2B5EF4-FFF2-40B4-BE49-F238E27FC236}">
                <a16:creationId xmlns:a16="http://schemas.microsoft.com/office/drawing/2014/main" id="{17048265-2995-4FBD-9F18-96051672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838575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编写确定性步骤代码</a:t>
            </a:r>
          </a:p>
        </p:txBody>
      </p:sp>
      <p:sp>
        <p:nvSpPr>
          <p:cNvPr id="22" name="generation-1-bullet-2">
            <a:extLst xmlns:a="http://schemas.openxmlformats.org/drawingml/2006/main">
              <a:ext uri="{FF2B5EF4-FFF2-40B4-BE49-F238E27FC236}">
                <a16:creationId xmlns:a16="http://schemas.microsoft.com/office/drawing/2014/main" id="{085C70E6-0800-4997-BFE0-FB876118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62450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23" name="generation-1-2">
            <a:extLst xmlns:a="http://schemas.openxmlformats.org/drawingml/2006/main">
              <a:ext uri="{FF2B5EF4-FFF2-40B4-BE49-F238E27FC236}">
                <a16:creationId xmlns:a16="http://schemas.microsoft.com/office/drawing/2014/main" id="{8EBCC7A5-AB4D-4C31-B666-143CDD80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36245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用 gherkai plan 查看计划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（不执行测试）</a:t>
            </a:r>
          </a:p>
        </p:txBody>
      </p:sp>
      <p:sp>
        <p:nvSpPr>
          <p:cNvPr id="24" name="generation-arrow-1">
            <a:extLst xmlns:a="http://schemas.openxmlformats.org/drawingml/2006/main">
              <a:ext uri="{FF2B5EF4-FFF2-40B4-BE49-F238E27FC236}">
                <a16:creationId xmlns:a16="http://schemas.microsoft.com/office/drawing/2014/main" id="{51EFBFA4-4AF7-428F-BB3B-2D0038AA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90525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25" name="tag-产出物">
            <a:extLst xmlns:a="http://schemas.openxmlformats.org/drawingml/2006/main">
              <a:ext uri="{FF2B5EF4-FFF2-40B4-BE49-F238E27FC236}">
                <a16:creationId xmlns:a16="http://schemas.microsoft.com/office/drawing/2014/main" id="{6E313F13-30FF-48EC-9D95-90D1D13D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0325"/>
            <a:ext cx="3105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C"/>
          </a:solidFill>
          <a:ln xmlns:a="http://schemas.openxmlformats.org/drawingml/2006/main" w="0">
            <a:noFill/>
          </a:ln>
        </p:spPr>
      </p:sp>
      <p:sp>
        <p:nvSpPr>
          <p:cNvPr id="26" name="tag-label-产出物">
            <a:extLst xmlns:a="http://schemas.openxmlformats.org/drawingml/2006/main">
              <a:ext uri="{FF2B5EF4-FFF2-40B4-BE49-F238E27FC236}">
                <a16:creationId xmlns:a16="http://schemas.microsoft.com/office/drawing/2014/main" id="{1C28E11C-C347-4431-9F96-C42242F1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032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产出物</a:t>
            </a:r>
          </a:p>
        </p:txBody>
      </p:sp>
      <p:sp>
        <p:nvSpPr>
          <p:cNvPr id="27" name="generation-2-bullet-0">
            <a:extLst xmlns:a="http://schemas.openxmlformats.org/drawingml/2006/main">
              <a:ext uri="{FF2B5EF4-FFF2-40B4-BE49-F238E27FC236}">
                <a16:creationId xmlns:a16="http://schemas.microsoft.com/office/drawing/2014/main" id="{2BF9326A-D41F-4B19-98F9-5B02A3F4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28" name="generation-2-0">
            <a:extLst xmlns:a="http://schemas.openxmlformats.org/drawingml/2006/main">
              <a:ext uri="{FF2B5EF4-FFF2-40B4-BE49-F238E27FC236}">
                <a16:creationId xmlns:a16="http://schemas.microsoft.com/office/drawing/2014/main" id="{0DDF1477-FBE1-4169-A822-BFF23ED8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1470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Gherkin 用例文件</a:t>
            </a:r>
          </a:p>
        </p:txBody>
      </p:sp>
      <p:sp>
        <p:nvSpPr>
          <p:cNvPr id="29" name="generation-2-bullet-1">
            <a:extLst xmlns:a="http://schemas.openxmlformats.org/drawingml/2006/main">
              <a:ext uri="{FF2B5EF4-FFF2-40B4-BE49-F238E27FC236}">
                <a16:creationId xmlns:a16="http://schemas.microsoft.com/office/drawing/2014/main" id="{B86E6EED-3A23-4D10-B6D9-AE994441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38575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30" name="generation-2-1">
            <a:extLst xmlns:a="http://schemas.openxmlformats.org/drawingml/2006/main">
              <a:ext uri="{FF2B5EF4-FFF2-40B4-BE49-F238E27FC236}">
                <a16:creationId xmlns:a16="http://schemas.microsoft.com/office/drawing/2014/main" id="{27CE9869-70DF-42CF-8CAB-AA8F01D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38575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确定性步骤代码</a:t>
            </a:r>
          </a:p>
        </p:txBody>
      </p:sp>
      <p:sp>
        <p:nvSpPr>
          <p:cNvPr id="31" name="generation-2-bullet-2">
            <a:extLst xmlns:a="http://schemas.openxmlformats.org/drawingml/2006/main">
              <a:ext uri="{FF2B5EF4-FFF2-40B4-BE49-F238E27FC236}">
                <a16:creationId xmlns:a16="http://schemas.microsoft.com/office/drawing/2014/main" id="{8F5045EE-EA18-4D7F-9000-D55EB7DD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32" name="generation-2-2">
            <a:extLst xmlns:a="http://schemas.openxmlformats.org/drawingml/2006/main">
              <a:ext uri="{FF2B5EF4-FFF2-40B4-BE49-F238E27FC236}">
                <a16:creationId xmlns:a16="http://schemas.microsoft.com/office/drawing/2014/main" id="{9C78E05C-F3DA-4F7F-9DFE-6BAB583A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6245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执行计划与步骤分工</a:t>
            </a:r>
          </a:p>
        </p:txBody>
      </p:sp>
      <p:sp>
        <p:nvSpPr>
          <p:cNvPr id="33" name="review-separator">
            <a:extLst xmlns:a="http://schemas.openxmlformats.org/drawingml/2006/main">
              <a:ext uri="{FF2B5EF4-FFF2-40B4-BE49-F238E27FC236}">
                <a16:creationId xmlns:a16="http://schemas.microsoft.com/office/drawing/2014/main" id="{A4D0071E-6216-4324-A8CF-B70E2817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E8"/>
          </a:solidFill>
          <a:ln xmlns:a="http://schemas.openxmlformats.org/drawingml/2006/main" w="0">
            <a:noFill/>
          </a:ln>
        </p:spPr>
      </p:sp>
      <p:sp>
        <p:nvSpPr>
          <p:cNvPr id="34" name="review-rule">
            <a:extLst xmlns:a="http://schemas.openxmlformats.org/drawingml/2006/main">
              <a:ext uri="{FF2B5EF4-FFF2-40B4-BE49-F238E27FC236}">
                <a16:creationId xmlns:a16="http://schemas.microsoft.com/office/drawing/2014/main" id="{7DD92295-70B7-4B07-9B3C-29FD0FCE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用例先经 QA 审阅，再通过实际运行验证业务要求</a:t>
            </a:r>
          </a:p>
        </p:txBody>
      </p:sp>
    </p:spTree>
    <p:extLst>
      <p:ext uri="{BB962C8B-B14F-4D97-AF65-F5344CB8AC3E}">
        <p14:creationId xmlns:p14="http://schemas.microsoft.com/office/powerpoint/2010/main" val="12401412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973178A9-2DE4-4D58-8D40-F42F5772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F8C28-3E1A-4C92-8F94-EEC3992CE4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1a6e2e2244ffb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DA4EEC46-2F4B-4676-822C-DF62D6AC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用例与状态接续</a:t>
            </a:r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1C241731-6443-439C-9C91-A9F893CB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重玩之前先真实到达结算页</a:t>
            </a:r>
          </a:p>
        </p:txBody>
      </p:sp>
      <p:sp>
        <p:nvSpPr>
          <p:cNvPr id="5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8EAC6EF-6266-4AF0-899A-902C269D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三个场景按顺序共享浏览器状态，下面节选中间的“再玩一次”场景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779B6F-3E5C-41F0-81E9-96FDE98A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7" name="scenario-two-focus">
            <a:extLst xmlns:a="http://schemas.openxmlformats.org/drawingml/2006/main">
              <a:ext uri="{FF2B5EF4-FFF2-40B4-BE49-F238E27FC236}">
                <a16:creationId xmlns:a16="http://schemas.microsoft.com/office/drawing/2014/main" id="{E644AAB8-894E-4EBE-B68A-44AED119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3543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</a:ln>
        </p:spPr>
      </p:sp>
      <p:sp>
        <p:nvSpPr>
          <p:cNvPr id="8" name="state-title-0">
            <a:extLst xmlns:a="http://schemas.openxmlformats.org/drawingml/2006/main">
              <a:ext uri="{FF2B5EF4-FFF2-40B4-BE49-F238E27FC236}">
                <a16:creationId xmlns:a16="http://schemas.microsoft.com/office/drawing/2014/main" id="{C52BC34B-D133-4CC2-800D-8F3DE4F5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1  答题到结算页</a:t>
            </a:r>
          </a:p>
        </p:txBody>
      </p:sp>
      <p:sp>
        <p:nvSpPr>
          <p:cNvPr id="9" name="state-detail-0">
            <a:extLst xmlns:a="http://schemas.openxmlformats.org/drawingml/2006/main">
              <a:ext uri="{FF2B5EF4-FFF2-40B4-BE49-F238E27FC236}">
                <a16:creationId xmlns:a16="http://schemas.microsoft.com/office/drawing/2014/main" id="{A9BB6AB5-2533-46BE-9EED-187C7E40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打开首页并答对 10 题</a:t>
            </a:r>
          </a:p>
        </p:txBody>
      </p:sp>
      <p:sp>
        <p:nvSpPr>
          <p:cNvPr id="10" name="state-arrow-0">
            <a:extLst xmlns:a="http://schemas.openxmlformats.org/drawingml/2006/main">
              <a:ext uri="{FF2B5EF4-FFF2-40B4-BE49-F238E27FC236}">
                <a16:creationId xmlns:a16="http://schemas.microsoft.com/office/drawing/2014/main" id="{2CC84CCF-6D10-4A0D-BC24-7D4369BE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90800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11" name="state-title-1">
            <a:extLst xmlns:a="http://schemas.openxmlformats.org/drawingml/2006/main">
              <a:ext uri="{FF2B5EF4-FFF2-40B4-BE49-F238E27FC236}">
                <a16:creationId xmlns:a16="http://schemas.microsoft.com/office/drawing/2014/main" id="{98D6A129-09F7-480F-BE18-6E36BE02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71725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2  再玩一次</a:t>
            </a:r>
          </a:p>
        </p:txBody>
      </p:sp>
      <p:sp>
        <p:nvSpPr>
          <p:cNvPr id="12" name="state-detail-1">
            <a:extLst xmlns:a="http://schemas.openxmlformats.org/drawingml/2006/main">
              <a:ext uri="{FF2B5EF4-FFF2-40B4-BE49-F238E27FC236}">
                <a16:creationId xmlns:a16="http://schemas.microsoft.com/office/drawing/2014/main" id="{D5F7D022-D12E-4EEE-9137-B514BBE5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检查进度 1 / 10 与得分 0</a:t>
            </a:r>
          </a:p>
        </p:txBody>
      </p:sp>
      <p:sp>
        <p:nvSpPr>
          <p:cNvPr id="13" name="state-arrow-1">
            <a:extLst xmlns:a="http://schemas.openxmlformats.org/drawingml/2006/main">
              <a:ext uri="{FF2B5EF4-FFF2-40B4-BE49-F238E27FC236}">
                <a16:creationId xmlns:a16="http://schemas.microsoft.com/office/drawing/2014/main" id="{4C01EFD7-58E8-45AF-89C3-62125C1D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90800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14" name="state-title-2">
            <a:extLst xmlns:a="http://schemas.openxmlformats.org/drawingml/2006/main">
              <a:ext uri="{FF2B5EF4-FFF2-40B4-BE49-F238E27FC236}">
                <a16:creationId xmlns:a16="http://schemas.microsoft.com/office/drawing/2014/main" id="{9053CB90-BC4F-4BC4-B0EC-4FACF750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71725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3  再答题并返回主页</a:t>
            </a:r>
          </a:p>
        </p:txBody>
      </p:sp>
      <p:sp>
        <p:nvSpPr>
          <p:cNvPr id="15" name="state-detail-2">
            <a:extLst xmlns:a="http://schemas.openxmlformats.org/drawingml/2006/main">
              <a:ext uri="{FF2B5EF4-FFF2-40B4-BE49-F238E27FC236}">
                <a16:creationId xmlns:a16="http://schemas.microsoft.com/office/drawing/2014/main" id="{60701951-8458-4102-AA1E-43074DF7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再次到达结算页后返回</a:t>
            </a:r>
          </a:p>
        </p:txBody>
      </p:sp>
      <p:sp>
        <p:nvSpPr>
          <p:cNvPr id="16" name="expand-second-scenario">
            <a:extLst xmlns:a="http://schemas.openxmlformats.org/drawingml/2006/main">
              <a:ext uri="{FF2B5EF4-FFF2-40B4-BE49-F238E27FC236}">
                <a16:creationId xmlns:a16="http://schemas.microsoft.com/office/drawing/2014/main" id="{E9631DF4-5329-4661-A0FD-B0E5D305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62300"/>
            <a:ext cx="1905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17" name="expand-second-label">
            <a:extLst xmlns:a="http://schemas.openxmlformats.org/drawingml/2006/main">
              <a:ext uri="{FF2B5EF4-FFF2-40B4-BE49-F238E27FC236}">
                <a16:creationId xmlns:a16="http://schemas.microsoft.com/office/drawing/2014/main" id="{6609E653-E917-4DF3-B311-63389C03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展开场景 2</a:t>
            </a:r>
          </a:p>
        </p:txBody>
      </p:sp>
      <p:sp>
        <p:nvSpPr>
          <p:cNvPr id="18" name="case-panel">
            <a:extLst xmlns:a="http://schemas.openxmlformats.org/drawingml/2006/main">
              <a:ext uri="{FF2B5EF4-FFF2-40B4-BE49-F238E27FC236}">
                <a16:creationId xmlns:a16="http://schemas.microsoft.com/office/drawing/2014/main" id="{E364A847-3AE9-4410-A298-8929407E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7219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FA"/>
          </a:solidFill>
          <a:ln xmlns:a="http://schemas.openxmlformats.org/drawingml/2006/main" w="0">
            <a:noFill/>
          </a:ln>
        </p:spPr>
      </p:sp>
      <p:sp>
        <p:nvSpPr>
          <p:cNvPr id="19" name="scenario-title">
            <a:extLst xmlns:a="http://schemas.openxmlformats.org/drawingml/2006/main">
              <a:ext uri="{FF2B5EF4-FFF2-40B4-BE49-F238E27FC236}">
                <a16:creationId xmlns:a16="http://schemas.microsoft.com/office/drawing/2014/main" id="{EAE3D1A8-3AB5-49A7-96C2-471EF6D2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671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Scenario: 再玩一次回到第 1 题且得分清零</a:t>
            </a:r>
          </a:p>
        </p:txBody>
      </p:sp>
      <p:sp>
        <p:nvSpPr>
          <p:cNvPr id="20" name="expected-score-highlight">
            <a:extLst xmlns:a="http://schemas.openxmlformats.org/drawingml/2006/main">
              <a:ext uri="{FF2B5EF4-FFF2-40B4-BE49-F238E27FC236}">
                <a16:creationId xmlns:a16="http://schemas.microsoft.com/office/drawing/2014/main" id="{73283689-C950-4637-808F-A761809A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6877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</a:ln>
        </p:spPr>
      </p:sp>
      <p:sp>
        <p:nvSpPr>
          <p:cNvPr id="21" name="kw-0">
            <a:extLst xmlns:a="http://schemas.openxmlformats.org/drawingml/2006/main">
              <a:ext uri="{FF2B5EF4-FFF2-40B4-BE49-F238E27FC236}">
                <a16:creationId xmlns:a16="http://schemas.microsoft.com/office/drawing/2014/main" id="{6D0AEE65-5A14-4145-96D9-A11FEE6A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05275"/>
            <a:ext cx="1000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63677F"/>
                </a:solidFill>
                <a:latin typeface="Menlo"/>
                <a:ea typeface="Menlo"/>
                <a:cs typeface="Menlo"/>
              </a:rPr>
              <a:t>Given</a:t>
            </a:r>
          </a:p>
        </p:txBody>
      </p:sp>
      <p:sp>
        <p:nvSpPr>
          <p:cNvPr id="22" name="case-0">
            <a:extLst xmlns:a="http://schemas.openxmlformats.org/drawingml/2006/main">
              <a:ext uri="{FF2B5EF4-FFF2-40B4-BE49-F238E27FC236}">
                <a16:creationId xmlns:a16="http://schemas.microsoft.com/office/drawing/2014/main" id="{699772DE-C88C-4FCD-9BF7-F25DAD6A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05275"/>
            <a:ext cx="561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结算页的最终得分是 "10"</a:t>
            </a:r>
          </a:p>
        </p:txBody>
      </p:sp>
      <p:sp>
        <p:nvSpPr>
          <p:cNvPr id="23" name="kw-1">
            <a:extLst xmlns:a="http://schemas.openxmlformats.org/drawingml/2006/main">
              <a:ext uri="{FF2B5EF4-FFF2-40B4-BE49-F238E27FC236}">
                <a16:creationId xmlns:a16="http://schemas.microsoft.com/office/drawing/2014/main" id="{4B5B8BE6-F4E5-4DA9-9FDC-4996DBB3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76750"/>
            <a:ext cx="1000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63677F"/>
                </a:solidFill>
                <a:latin typeface="Menlo"/>
                <a:ea typeface="Menlo"/>
                <a:cs typeface="Menlo"/>
              </a:rPr>
              <a:t>When</a:t>
            </a:r>
          </a:p>
        </p:txBody>
      </p:sp>
      <p:sp>
        <p:nvSpPr>
          <p:cNvPr id="24" name="case-1">
            <a:extLst xmlns:a="http://schemas.openxmlformats.org/drawingml/2006/main">
              <a:ext uri="{FF2B5EF4-FFF2-40B4-BE49-F238E27FC236}">
                <a16:creationId xmlns:a16="http://schemas.microsoft.com/office/drawing/2014/main" id="{FEF24501-3722-4EF0-A883-33AE22ED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76750"/>
            <a:ext cx="561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"点击再玩一次按钮"</a:t>
            </a:r>
          </a:p>
        </p:txBody>
      </p:sp>
      <p:sp>
        <p:nvSpPr>
          <p:cNvPr id="25" name="kw-2">
            <a:extLst xmlns:a="http://schemas.openxmlformats.org/drawingml/2006/main">
              <a:ext uri="{FF2B5EF4-FFF2-40B4-BE49-F238E27FC236}">
                <a16:creationId xmlns:a16="http://schemas.microsoft.com/office/drawing/2014/main" id="{4DC3A494-7F79-4895-9122-19D46805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48225"/>
            <a:ext cx="1000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63677F"/>
                </a:solidFill>
                <a:latin typeface="Menlo"/>
                <a:ea typeface="Menlo"/>
                <a:cs typeface="Menlo"/>
              </a:rPr>
              <a:t>Then</a:t>
            </a:r>
          </a:p>
        </p:txBody>
      </p:sp>
      <p:sp>
        <p:nvSpPr>
          <p:cNvPr id="26" name="case-2">
            <a:extLst xmlns:a="http://schemas.openxmlformats.org/drawingml/2006/main">
              <a:ext uri="{FF2B5EF4-FFF2-40B4-BE49-F238E27FC236}">
                <a16:creationId xmlns:a16="http://schemas.microsoft.com/office/drawing/2014/main" id="{D5AE720C-28E1-4CA8-A5A7-3E301657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48225"/>
            <a:ext cx="561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进度显示 "1 / 10"</a:t>
            </a:r>
          </a:p>
        </p:txBody>
      </p:sp>
      <p:sp>
        <p:nvSpPr>
          <p:cNvPr id="27" name="kw-3">
            <a:extLst xmlns:a="http://schemas.openxmlformats.org/drawingml/2006/main">
              <a:ext uri="{FF2B5EF4-FFF2-40B4-BE49-F238E27FC236}">
                <a16:creationId xmlns:a16="http://schemas.microsoft.com/office/drawing/2014/main" id="{53DFAE47-140F-44E1-8FAD-1136BC1B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19700"/>
            <a:ext cx="1000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63677F"/>
                </a:solidFill>
                <a:latin typeface="Menlo"/>
                <a:ea typeface="Menlo"/>
                <a:cs typeface="Menlo"/>
              </a:rPr>
              <a:t>And</a:t>
            </a:r>
          </a:p>
        </p:txBody>
      </p:sp>
      <p:sp>
        <p:nvSpPr>
          <p:cNvPr id="28" name="case-3">
            <a:extLst xmlns:a="http://schemas.openxmlformats.org/drawingml/2006/main">
              <a:ext uri="{FF2B5EF4-FFF2-40B4-BE49-F238E27FC236}">
                <a16:creationId xmlns:a16="http://schemas.microsoft.com/office/drawing/2014/main" id="{F2D57796-380A-41DF-B550-EC7AB969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19700"/>
            <a:ext cx="561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得分为 "0"</a:t>
            </a:r>
          </a:p>
        </p:txBody>
      </p:sp>
      <p:sp>
        <p:nvSpPr>
          <p:cNvPr id="29" name="qa-title">
            <a:extLst xmlns:a="http://schemas.openxmlformats.org/drawingml/2006/main">
              <a:ext uri="{FF2B5EF4-FFF2-40B4-BE49-F238E27FC236}">
                <a16:creationId xmlns:a16="http://schemas.microsoft.com/office/drawing/2014/main" id="{B9FEF03D-1406-4EF0-A839-15F28E6C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gherkai 如何接续状态</a:t>
            </a:r>
          </a:p>
        </p:txBody>
      </p:sp>
      <p:sp>
        <p:nvSpPr>
          <p:cNvPr id="30" name="qa-checks-bullet-0">
            <a:extLst xmlns:a="http://schemas.openxmlformats.org/drawingml/2006/main">
              <a:ext uri="{FF2B5EF4-FFF2-40B4-BE49-F238E27FC236}">
                <a16:creationId xmlns:a16="http://schemas.microsoft.com/office/drawing/2014/main" id="{D41546F3-E571-480E-9C4F-0C88E4DC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161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31" name="qa-checks-0">
            <a:extLst xmlns:a="http://schemas.openxmlformats.org/drawingml/2006/main">
              <a:ext uri="{FF2B5EF4-FFF2-40B4-BE49-F238E27FC236}">
                <a16:creationId xmlns:a16="http://schemas.microsoft.com/office/drawing/2014/main" id="{AD6952DC-68FE-4390-BC91-A371194B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48125"/>
            <a:ext cx="3248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第一个场景到达 10 分结算页</a:t>
            </a:r>
          </a:p>
        </p:txBody>
      </p:sp>
      <p:sp>
        <p:nvSpPr>
          <p:cNvPr id="32" name="qa-checks-bullet-1">
            <a:extLst xmlns:a="http://schemas.openxmlformats.org/drawingml/2006/main">
              <a:ext uri="{FF2B5EF4-FFF2-40B4-BE49-F238E27FC236}">
                <a16:creationId xmlns:a16="http://schemas.microsoft.com/office/drawing/2014/main" id="{E30CAD2B-CB0A-452F-B506-9F8B5E6E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161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33" name="qa-checks-1">
            <a:extLst xmlns:a="http://schemas.openxmlformats.org/drawingml/2006/main">
              <a:ext uri="{FF2B5EF4-FFF2-40B4-BE49-F238E27FC236}">
                <a16:creationId xmlns:a16="http://schemas.microsoft.com/office/drawing/2014/main" id="{06295B44-BF10-48B6-8375-C431455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91050"/>
            <a:ext cx="3248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第二个场景接着使用该页面</a:t>
            </a:r>
          </a:p>
        </p:txBody>
      </p:sp>
      <p:sp>
        <p:nvSpPr>
          <p:cNvPr id="34" name="qa-checks-bullet-2">
            <a:extLst xmlns:a="http://schemas.openxmlformats.org/drawingml/2006/main">
              <a:ext uri="{FF2B5EF4-FFF2-40B4-BE49-F238E27FC236}">
                <a16:creationId xmlns:a16="http://schemas.microsoft.com/office/drawing/2014/main" id="{BA8B42A5-89AD-42C7-AA43-C6FA3DA4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33975"/>
            <a:ext cx="161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35" name="qa-checks-2">
            <a:extLst xmlns:a="http://schemas.openxmlformats.org/drawingml/2006/main">
              <a:ext uri="{FF2B5EF4-FFF2-40B4-BE49-F238E27FC236}">
                <a16:creationId xmlns:a16="http://schemas.microsoft.com/office/drawing/2014/main" id="{64C9AB03-2DD8-44CD-8E5D-DF89D0C0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33975"/>
            <a:ext cx="3248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本例 Given 检查已有得分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校验重玩测试的前置条件</a:t>
            </a:r>
          </a:p>
        </p:txBody>
      </p:sp>
      <p:sp>
        <p:nvSpPr>
          <p:cNvPr id="36" name="state-meaning">
            <a:extLst xmlns:a="http://schemas.openxmlformats.org/drawingml/2006/main">
              <a:ext uri="{FF2B5EF4-FFF2-40B4-BE49-F238E27FC236}">
                <a16:creationId xmlns:a16="http://schemas.microsoft.com/office/drawing/2014/main" id="{94161F88-130C-49D2-97A3-0F00FCCF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三个场景配置相同的 scope，共用浏览器会话，按顺序接续执行</a:t>
            </a:r>
          </a:p>
        </p:txBody>
      </p:sp>
    </p:spTree>
    <p:extLst>
      <p:ext uri="{BB962C8B-B14F-4D97-AF65-F5344CB8AC3E}">
        <p14:creationId xmlns:p14="http://schemas.microsoft.com/office/powerpoint/2010/main" val="19967668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3712A937-FA86-4E5E-A5AA-5D797043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3CAF5-7760-43A9-9570-9F64EEDAF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2de486c684688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7C82C5EA-6CE3-4B7C-B7BC-9E3790EB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执行计划核对</a:t>
            </a:r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FC4B8B77-3F68-46F2-9CAE-79AE873E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运行前确认测试范围与执行方式</a:t>
            </a:r>
          </a:p>
        </p:txBody>
      </p:sp>
      <p:sp>
        <p:nvSpPr>
          <p:cNvPr id="5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198AA45-EE92-459B-96F6-5B415F03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gherkai plan 显示将要执行的安排，先核对范围，再发起本机测试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6A1F10-5215-49C5-9E79-9C6EFD33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EF5B8-E5EE-4CE0-AC59-5F7C2AD13F40}"/>
              </a:ext>
            </a:extLst>
          </p:cNvPr>
          <p:cNvGraphicFramePr/>
          <p:nvPr/>
        </p:nvGraphicFramePr>
        <p:xfrm>
          <a:off xmlns:a="http://schemas.openxmlformats.org/drawingml/2006/main" x="609600" y="246697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00325"/>
                <a:gridCol w="8372475"/>
              </a:tblGrid>
              <a:tr h="4762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核对项目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 plan 输出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</a:tr>
              <a:tr h="4762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测试范围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全部答对、再玩一次、返回主页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noFill/>
                  </a:tcPr>
                </a:tc>
              </a:tr>
              <a:tr h="4762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浏览器会话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个执行任务，3 个场景按顺序运行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noFill/>
                  </a:tcPr>
                </a:tc>
              </a:tr>
              <a:tr h="4762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执行引擎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Midscene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noFill/>
                  </a:tcPr>
                </a:tc>
              </a:tr>
              <a:tr h="4762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步骤与执行方式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三个场景合计 22 步，逐步标注代码、AI 或导航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ount-0">
            <a:extLst xmlns:a="http://schemas.openxmlformats.org/drawingml/2006/main">
              <a:ext uri="{FF2B5EF4-FFF2-40B4-BE49-F238E27FC236}">
                <a16:creationId xmlns:a16="http://schemas.microsoft.com/office/drawing/2014/main" id="{FEE57947-3026-4195-A66C-7FC1DA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00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0087A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008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87A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9" name="count-label-0">
            <a:extLst xmlns:a="http://schemas.openxmlformats.org/drawingml/2006/main">
              <a:ext uri="{FF2B5EF4-FFF2-40B4-BE49-F238E27FC236}">
                <a16:creationId xmlns:a16="http://schemas.microsoft.com/office/drawing/2014/main" id="{946878E9-2146-4AA9-92CB-E90AC6D2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91125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确定性步骤（代码）</a:t>
            </a:r>
          </a:p>
        </p:txBody>
      </p:sp>
      <p:sp>
        <p:nvSpPr>
          <p:cNvPr id="10" name="count-1">
            <a:extLst xmlns:a="http://schemas.openxmlformats.org/drawingml/2006/main">
              <a:ext uri="{FF2B5EF4-FFF2-40B4-BE49-F238E27FC236}">
                <a16:creationId xmlns:a16="http://schemas.microsoft.com/office/drawing/2014/main" id="{5DB8AD8B-F25E-467D-A340-87039F2C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95875"/>
            <a:ext cx="1000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713DE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713D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713DE2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count-label-1">
            <a:extLst xmlns:a="http://schemas.openxmlformats.org/drawingml/2006/main">
              <a:ext uri="{FF2B5EF4-FFF2-40B4-BE49-F238E27FC236}">
                <a16:creationId xmlns:a16="http://schemas.microsoft.com/office/drawing/2014/main" id="{73342A6E-C23B-4192-A2F7-4CA8CF8E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191125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AI 步骤</a:t>
            </a:r>
          </a:p>
        </p:txBody>
      </p:sp>
      <p:sp>
        <p:nvSpPr>
          <p:cNvPr id="12" name="count-2">
            <a:extLst xmlns:a="http://schemas.openxmlformats.org/drawingml/2006/main">
              <a:ext uri="{FF2B5EF4-FFF2-40B4-BE49-F238E27FC236}">
                <a16:creationId xmlns:a16="http://schemas.microsoft.com/office/drawing/2014/main" id="{A9E474A7-7F6B-41EE-98AA-C87D76DA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95875"/>
            <a:ext cx="1000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63677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6367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63677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count-label-2">
            <a:extLst xmlns:a="http://schemas.openxmlformats.org/drawingml/2006/main">
              <a:ext uri="{FF2B5EF4-FFF2-40B4-BE49-F238E27FC236}">
                <a16:creationId xmlns:a16="http://schemas.microsoft.com/office/drawing/2014/main" id="{09377509-2802-455A-9845-E700B2A2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91125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打开网页</a:t>
            </a:r>
          </a:p>
        </p:txBody>
      </p:sp>
      <p:sp>
        <p:nvSpPr>
          <p:cNvPr id="14" name="preflight-takeaway">
            <a:extLst xmlns:a="http://schemas.openxmlformats.org/drawingml/2006/main">
              <a:ext uri="{FF2B5EF4-FFF2-40B4-BE49-F238E27FC236}">
                <a16:creationId xmlns:a16="http://schemas.microsoft.com/office/drawing/2014/main" id="{5F3CD36E-690F-4626-B219-30062DFA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gherkai plan 不运行浏览器，测试是否通过要看实际执行结果</a:t>
            </a:r>
          </a:p>
        </p:txBody>
      </p:sp>
    </p:spTree>
    <p:extLst>
      <p:ext uri="{BB962C8B-B14F-4D97-AF65-F5344CB8AC3E}">
        <p14:creationId xmlns:p14="http://schemas.microsoft.com/office/powerpoint/2010/main" val="1756374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BCB8C4FC-84BD-4077-9ED4-CEFFB3A5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D63B6-6C51-4AE8-A619-AAF237C35F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719313abc42c0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2E33B4F8-A08C-42DD-BC4B-F7801515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确定性步骤执行</a:t>
            </a:r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7801F0EC-9C87-4870-ADB5-A3B1FE7B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“得分为 0”怎样执行与判定</a:t>
            </a:r>
          </a:p>
        </p:txBody>
      </p:sp>
      <p:sp>
        <p:nvSpPr>
          <p:cNvPr id="5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C9B101A-8C30-44C4-8BD1-AA4D1538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沿着这一项检查查看实际用例、代码注册与页面读取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E421B9-0D9B-4933-A136-2ACBD30C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7" name="tag-用例中的原句">
            <a:extLst xmlns:a="http://schemas.openxmlformats.org/drawingml/2006/main">
              <a:ext uri="{FF2B5EF4-FFF2-40B4-BE49-F238E27FC236}">
                <a16:creationId xmlns:a16="http://schemas.microsoft.com/office/drawing/2014/main" id="{9A572B63-B99D-444B-91F6-FB8EC22C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8764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</a:ln>
        </p:spPr>
      </p:sp>
      <p:sp>
        <p:nvSpPr>
          <p:cNvPr id="8" name="tag-label-用例中的原句">
            <a:extLst xmlns:a="http://schemas.openxmlformats.org/drawingml/2006/main">
              <a:ext uri="{FF2B5EF4-FFF2-40B4-BE49-F238E27FC236}">
                <a16:creationId xmlns:a16="http://schemas.microsoft.com/office/drawing/2014/main" id="{45C75A27-B2E4-4347-8B89-9024D4B8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72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用例中的原句</a:t>
            </a:r>
          </a:p>
        </p:txBody>
      </p:sp>
      <p:sp>
        <p:nvSpPr>
          <p:cNvPr id="9" name="score-feature">
            <a:extLst xmlns:a="http://schemas.openxmlformats.org/drawingml/2006/main">
              <a:ext uri="{FF2B5EF4-FFF2-40B4-BE49-F238E27FC236}">
                <a16:creationId xmlns:a16="http://schemas.microsoft.com/office/drawing/2014/main" id="{6ABD3E10-8DF7-4363-AF43-4B0F9AD4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661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526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252644"/>
                </a:solidFill>
                <a:latin typeface="Menlo"/>
                <a:ea typeface="Menlo"/>
                <a:cs typeface="Menlo"/>
              </a:defRPr>
            </a:pPr>
            <a:r>
              <a:rPr sz="2175" b="1">
                <a:solidFill>
                  <a:srgbClr val="252644"/>
                </a:solidFill>
                <a:latin typeface="Menlo"/>
                <a:ea typeface="Menlo"/>
                <a:cs typeface="Menlo"/>
              </a:rPr>
              <a:t>And 得分为 "0"</a:t>
            </a:r>
          </a:p>
        </p:txBody>
      </p:sp>
      <p:sp>
        <p:nvSpPr>
          <p:cNvPr id="10" name="tag-确定性步骤代码节选">
            <a:extLst xmlns:a="http://schemas.openxmlformats.org/drawingml/2006/main">
              <a:ext uri="{FF2B5EF4-FFF2-40B4-BE49-F238E27FC236}">
                <a16:creationId xmlns:a16="http://schemas.microsoft.com/office/drawing/2014/main" id="{EB6E5744-5C1E-47D2-B4B2-3C8D4AC1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571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C"/>
          </a:solidFill>
          <a:ln xmlns:a="http://schemas.openxmlformats.org/drawingml/2006/main" w="0">
            <a:noFill/>
          </a:ln>
        </p:spPr>
      </p:sp>
      <p:sp>
        <p:nvSpPr>
          <p:cNvPr id="11" name="tag-label-确定性步骤代码节选">
            <a:extLst xmlns:a="http://schemas.openxmlformats.org/drawingml/2006/main">
              <a:ext uri="{FF2B5EF4-FFF2-40B4-BE49-F238E27FC236}">
                <a16:creationId xmlns:a16="http://schemas.microsoft.com/office/drawing/2014/main" id="{FDC532DA-35FD-42B3-B9E3-0AA06B89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41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确定性步骤代码节选</a:t>
            </a:r>
          </a:p>
        </p:txBody>
      </p:sp>
      <p:sp>
        <p:nvSpPr>
          <p:cNvPr id="12" name="score-code">
            <a:extLst xmlns:a="http://schemas.openxmlformats.org/drawingml/2006/main">
              <a:ext uri="{FF2B5EF4-FFF2-40B4-BE49-F238E27FC236}">
                <a16:creationId xmlns:a16="http://schemas.microsoft.com/office/drawing/2014/main" id="{24BEE7AA-F3A9-43BD-9EC0-7225D0EB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717232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FA"/>
          </a:solidFill>
          <a:ln xmlns:a="http://schemas.openxmlformats.org/drawingml/2006/main" w="0">
            <a:noFill/>
          </a:ln>
        </p:spPr>
      </p:sp>
      <p:sp>
        <p:nvSpPr>
          <p:cNvPr id="13" name="score-registration-pattern">
            <a:extLst xmlns:a="http://schemas.openxmlformats.org/drawingml/2006/main">
              <a:ext uri="{FF2B5EF4-FFF2-40B4-BE49-F238E27FC236}">
                <a16:creationId xmlns:a16="http://schemas.microsoft.com/office/drawing/2014/main" id="{A6653B0C-E655-4BF2-A876-7CE83CD4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676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713DE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713DE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713DE2"/>
                </a:solidFill>
                <a:latin typeface="Menlo"/>
                <a:ea typeface="Menlo"/>
                <a:cs typeface="Menlo"/>
              </a:rPr>
              <a:t>'得分为 "(?&lt;score&gt;\\d+)"',</a:t>
            </a:r>
          </a:p>
        </p:txBody>
      </p:sp>
      <p:sp>
        <p:nvSpPr>
          <p:cNvPr id="14" name="score-registration-handler">
            <a:extLst xmlns:a="http://schemas.openxmlformats.org/drawingml/2006/main">
              <a:ext uri="{FF2B5EF4-FFF2-40B4-BE49-F238E27FC236}">
                <a16:creationId xmlns:a16="http://schemas.microsoft.com/office/drawing/2014/main" id="{42DF84FC-64F0-4F5B-BE4A-08256F13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676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26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526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52644"/>
                </a:solidFill>
                <a:latin typeface="Menlo"/>
                <a:ea typeface="Menlo"/>
                <a:cs typeface="Menlo"/>
              </a:rPr>
              <a:t>({ page }, { score }) =&gt; scoreIs(page, score),</a:t>
            </a:r>
          </a:p>
        </p:txBody>
      </p:sp>
      <p:sp>
        <p:nvSpPr>
          <p:cNvPr id="15" name="score-check">
            <a:extLst xmlns:a="http://schemas.openxmlformats.org/drawingml/2006/main">
              <a:ext uri="{FF2B5EF4-FFF2-40B4-BE49-F238E27FC236}">
                <a16:creationId xmlns:a16="http://schemas.microsoft.com/office/drawing/2014/main" id="{AAD01D3D-2CA2-4C28-B71E-7A97185D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26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526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52644"/>
                </a:solidFill>
                <a:latin typeface="Menlo"/>
                <a:ea typeface="Menlo"/>
                <a:cs typeface="Menlo"/>
              </a:rPr>
              <a:t>await expectText(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526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52644"/>
                </a:solidFill>
                <a:latin typeface="Menlo"/>
                <a:ea typeface="Menlo"/>
                <a:cs typeface="Menlo"/>
              </a:rPr>
              <a:t>  page, SEL_SCORE, score, "得分", timeoutMs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52644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52644"/>
                </a:solidFill>
                <a:latin typeface="Menlo"/>
                <a:ea typeface="Menlo"/>
                <a:cs typeface="Menlo"/>
              </a:rPr>
              <a:t>);</a:t>
            </a:r>
          </a:p>
        </p:txBody>
      </p:sp>
      <p:sp>
        <p:nvSpPr>
          <p:cNvPr id="16" name="check-process-title">
            <a:extLst xmlns:a="http://schemas.openxmlformats.org/drawingml/2006/main">
              <a:ext uri="{FF2B5EF4-FFF2-40B4-BE49-F238E27FC236}">
                <a16:creationId xmlns:a16="http://schemas.microsoft.com/office/drawing/2014/main" id="{64A0C180-F818-4314-906E-71EFFD22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实际检查过程</a:t>
            </a:r>
          </a:p>
        </p:txBody>
      </p:sp>
      <p:sp>
        <p:nvSpPr>
          <p:cNvPr id="17" name="score-check-label-0">
            <a:extLst xmlns:a="http://schemas.openxmlformats.org/drawingml/2006/main">
              <a:ext uri="{FF2B5EF4-FFF2-40B4-BE49-F238E27FC236}">
                <a16:creationId xmlns:a16="http://schemas.microsoft.com/office/drawing/2014/main" id="{3DC37DA3-E610-423C-91FA-16709ADE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7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读取页面</a:t>
            </a:r>
          </a:p>
        </p:txBody>
      </p:sp>
      <p:sp>
        <p:nvSpPr>
          <p:cNvPr id="18" name="score-check-detail-0">
            <a:extLst xmlns:a="http://schemas.openxmlformats.org/drawingml/2006/main">
              <a:ext uri="{FF2B5EF4-FFF2-40B4-BE49-F238E27FC236}">
                <a16:creationId xmlns:a16="http://schemas.microsoft.com/office/drawing/2014/main" id="{C3546B6B-5001-4BCA-B16A-18F75691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14725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先确认答题页可见</a:t>
            </a:r>
          </a:p>
        </p:txBody>
      </p:sp>
      <p:sp>
        <p:nvSpPr>
          <p:cNvPr id="19" name="score-check-label-1">
            <a:extLst xmlns:a="http://schemas.openxmlformats.org/drawingml/2006/main">
              <a:ext uri="{FF2B5EF4-FFF2-40B4-BE49-F238E27FC236}">
                <a16:creationId xmlns:a16="http://schemas.microsoft.com/office/drawing/2014/main" id="{3679D6FF-2404-471C-90E8-B4785D73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按要求比较</a:t>
            </a:r>
          </a:p>
        </p:txBody>
      </p:sp>
      <p:sp>
        <p:nvSpPr>
          <p:cNvPr id="20" name="score-check-detail-1">
            <a:extLst xmlns:a="http://schemas.openxmlformats.org/drawingml/2006/main">
              <a:ext uri="{FF2B5EF4-FFF2-40B4-BE49-F238E27FC236}">
                <a16:creationId xmlns:a16="http://schemas.microsoft.com/office/drawing/2014/main" id="{A5852038-104F-4550-9043-826958C2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等待得分文字等于期望值</a:t>
            </a:r>
          </a:p>
        </p:txBody>
      </p:sp>
      <p:sp>
        <p:nvSpPr>
          <p:cNvPr id="21" name="score-check-label-2">
            <a:extLst xmlns:a="http://schemas.openxmlformats.org/drawingml/2006/main">
              <a:ext uri="{FF2B5EF4-FFF2-40B4-BE49-F238E27FC236}">
                <a16:creationId xmlns:a16="http://schemas.microsoft.com/office/drawing/2014/main" id="{146AD2B6-A1B5-445E-9F7A-CB7CA7EB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297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形成失败反馈</a:t>
            </a:r>
          </a:p>
        </p:txBody>
      </p:sp>
      <p:sp>
        <p:nvSpPr>
          <p:cNvPr id="22" name="score-check-detail-2">
            <a:extLst xmlns:a="http://schemas.openxmlformats.org/drawingml/2006/main">
              <a:ext uri="{FF2B5EF4-FFF2-40B4-BE49-F238E27FC236}">
                <a16:creationId xmlns:a16="http://schemas.microsoft.com/office/drawing/2014/main" id="{9A3DF9EE-A22C-441B-9654-AC778394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应有值、实际值与元素位置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供人或 agent 排查</a:t>
            </a:r>
          </a:p>
        </p:txBody>
      </p:sp>
      <p:sp>
        <p:nvSpPr>
          <p:cNvPr id="23" name="score-next">
            <a:extLst xmlns:a="http://schemas.openxmlformats.org/drawingml/2006/main">
              <a:ext uri="{FF2B5EF4-FFF2-40B4-BE49-F238E27FC236}">
                <a16:creationId xmlns:a16="http://schemas.microsoft.com/office/drawing/2014/main" id="{C5E2EBA9-9CCD-411C-8D2F-8F7E136E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gherkai skill 指导 Agent 把检查与失败说明一起写进确定性步骤代码</a:t>
            </a:r>
          </a:p>
        </p:txBody>
      </p:sp>
    </p:spTree>
    <p:extLst>
      <p:ext uri="{BB962C8B-B14F-4D97-AF65-F5344CB8AC3E}">
        <p14:creationId xmlns:p14="http://schemas.microsoft.com/office/powerpoint/2010/main" val="5420412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1B12A84D-CF3F-4D4E-8FFE-6FB01492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F79BF-2355-4A27-BFC7-1F300C401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8b409f09a4843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39F2D50D-0F35-46D6-99CE-10B208D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本机验证</a:t>
            </a:r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15217E64-2182-4BF6-A5CC-2F11A646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不只看到页面变化，还能核对验收结果</a:t>
            </a:r>
          </a:p>
        </p:txBody>
      </p:sp>
      <p:sp>
        <p:nvSpPr>
          <p:cNvPr id="5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6493AF2-72F4-4DD6-BCA0-7F45BBE8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正常运行：再玩一次后，进度为 1 / 10，得分为 0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80A576-20BD-40F6-8796-A9A7B728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40526-8E8A-458B-87F6-9B03FD388C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8a453e0f042c4"/>
          <a:stretch xmlns:a="http://schemas.openxmlformats.org/drawingml/2006/main"/>
        </p:blipFill>
        <p:spPr>
          <a:xfrm xmlns:a="http://schemas.openxmlformats.org/drawingml/2006/main">
            <a:off x="609600" y="2456364"/>
            <a:ext cx="5991225" cy="3012072"/>
          </a:xfrm>
          <a:prstGeom xmlns:a="http://schemas.openxmlformats.org/drawingml/2006/main" prst="rect">
            <a:avLst/>
          </a:prstGeom>
        </p:spPr>
      </p:pic>
      <p:sp>
        <p:nvSpPr>
          <p:cNvPr id="8" name="tag-正常运行 · 实测截图">
            <a:extLst xmlns:a="http://schemas.openxmlformats.org/drawingml/2006/main">
              <a:ext uri="{FF2B5EF4-FFF2-40B4-BE49-F238E27FC236}">
                <a16:creationId xmlns:a16="http://schemas.microsoft.com/office/drawing/2014/main" id="{2EFF4149-97A2-4028-9EFC-9E0157B0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22574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C"/>
          </a:solidFill>
          <a:ln xmlns:a="http://schemas.openxmlformats.org/drawingml/2006/main" w="0">
            <a:noFill/>
          </a:ln>
        </p:spPr>
      </p:sp>
      <p:sp>
        <p:nvSpPr>
          <p:cNvPr id="9" name="tag-label-正常运行 · 实测截图">
            <a:extLst xmlns:a="http://schemas.openxmlformats.org/drawingml/2006/main">
              <a:ext uri="{FF2B5EF4-FFF2-40B4-BE49-F238E27FC236}">
                <a16:creationId xmlns:a16="http://schemas.microsoft.com/office/drawing/2014/main" id="{0ECCA190-D71B-4827-9978-82A6B472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105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正常运行 · 实测截图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05BFD-BFE7-4570-8A29-40F8B12FA5BE}"/>
              </a:ext>
            </a:extLst>
          </p:cNvPr>
          <p:cNvGraphicFramePr/>
          <p:nvPr/>
        </p:nvGraphicFramePr>
        <p:xfrm>
          <a:off xmlns:a="http://schemas.openxmlformats.org/drawingml/2006/main" x="7143750" y="2505075"/>
          <a:ext xmlns:a="http://schemas.openxmlformats.org/drawingml/2006/main" cx="4438650" cy="2762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38450"/>
                <a:gridCol w="1600200"/>
              </a:tblGrid>
              <a:tr h="5524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实际结果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</a:tr>
              <a:tr h="5524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点击再玩一次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97B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noFill/>
                  </a:tcPr>
                </a:tc>
              </a:tr>
              <a:tr h="5524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进度回到第一题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97B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/ 10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noFill/>
                  </a:tcPr>
                </a:tc>
              </a:tr>
              <a:tr h="5524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得分清零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solidFill>
                      <a:srgbClr val="EEE8F8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97B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solidFill>
                      <a:srgbClr val="EEE8F8"/>
                    </a:solidFill>
                  </a:tcPr>
                </a:tc>
              </a:tr>
              <a:tr h="5524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返回主页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97B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baseline-next">
            <a:extLst xmlns:a="http://schemas.openxmlformats.org/drawingml/2006/main">
              <a:ext uri="{FF2B5EF4-FFF2-40B4-BE49-F238E27FC236}">
                <a16:creationId xmlns:a16="http://schemas.microsoft.com/office/drawing/2014/main" id="{50EB0A7B-EC22-43F7-87C3-8372A008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14975"/>
            <a:ext cx="443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沿着业务用例，核对每项要求。</a:t>
            </a:r>
          </a:p>
        </p:txBody>
      </p:sp>
    </p:spTree>
    <p:extLst>
      <p:ext uri="{BB962C8B-B14F-4D97-AF65-F5344CB8AC3E}">
        <p14:creationId xmlns:p14="http://schemas.microsoft.com/office/powerpoint/2010/main" val="13141307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CC2275C6-2AF3-4DEB-A33A-B8B0EBF0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ABC59-F892-4B27-9719-1411BE19E1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4ffdc9e4a4453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9DA67887-ECCB-4618-8269-DA68E1BF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失败依据</a:t>
            </a:r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B2369C53-0389-4D5C-9F7B-2EAF30B5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按钮点到了，得分却没有清零</a:t>
            </a:r>
          </a:p>
        </p:txBody>
      </p:sp>
      <p:sp>
        <p:nvSpPr>
          <p:cNvPr id="5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1E4969C-F3F8-4C09-AEEF-38FA9FB1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故意保留旧得分，再运行同一用例：能否发现业务状态没有重置？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74E5AA-61C7-45E6-8CEC-6BE82C1A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D2C36-0440-4E7E-B1F8-E60B27A2FA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4febaa1b34c54"/>
          <a:stretch xmlns:a="http://schemas.openxmlformats.org/drawingml/2006/main"/>
        </p:blipFill>
        <p:spPr>
          <a:xfrm xmlns:a="http://schemas.openxmlformats.org/drawingml/2006/main">
            <a:off x="609600" y="2456364"/>
            <a:ext cx="5991225" cy="3012072"/>
          </a:xfrm>
          <a:prstGeom xmlns:a="http://schemas.openxmlformats.org/drawingml/2006/main" prst="rect">
            <a:avLst/>
          </a:prstGeom>
        </p:spPr>
      </p:pic>
      <p:sp>
        <p:nvSpPr>
          <p:cNvPr id="8" name="tag-缺陷注入 · 实测截图">
            <a:extLst xmlns:a="http://schemas.openxmlformats.org/drawingml/2006/main">
              <a:ext uri="{FF2B5EF4-FFF2-40B4-BE49-F238E27FC236}">
                <a16:creationId xmlns:a16="http://schemas.microsoft.com/office/drawing/2014/main" id="{A5DFC5C9-0773-4C10-BA93-03DF90FA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22574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F0"/>
          </a:solidFill>
          <a:ln xmlns:a="http://schemas.openxmlformats.org/drawingml/2006/main" w="0">
            <a:noFill/>
          </a:ln>
        </p:spPr>
      </p:sp>
      <p:sp>
        <p:nvSpPr>
          <p:cNvPr id="9" name="tag-label-缺陷注入 · 实测截图">
            <a:extLst xmlns:a="http://schemas.openxmlformats.org/drawingml/2006/main">
              <a:ext uri="{FF2B5EF4-FFF2-40B4-BE49-F238E27FC236}">
                <a16:creationId xmlns:a16="http://schemas.microsoft.com/office/drawing/2014/main" id="{AEA6AC42-9334-4D9B-8F48-740551E2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105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B848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B848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B84867"/>
                </a:solidFill>
                <a:latin typeface="Hiragino Sans GB"/>
                <a:ea typeface="Hiragino Sans GB"/>
                <a:cs typeface="Hiragino Sans GB"/>
              </a:rPr>
              <a:t>缺陷注入 · 实测截图</a:t>
            </a:r>
          </a:p>
        </p:txBody>
      </p:sp>
      <p:sp>
        <p:nvSpPr>
          <p:cNvPr id="10" name="expected-value">
            <a:extLst xmlns:a="http://schemas.openxmlformats.org/drawingml/2006/main">
              <a:ext uri="{FF2B5EF4-FFF2-40B4-BE49-F238E27FC236}">
                <a16:creationId xmlns:a16="http://schemas.microsoft.com/office/drawing/2014/main" id="{816481D9-B5EB-4DF9-9803-D64C039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应为</a:t>
            </a:r>
          </a:p>
        </p:txBody>
      </p:sp>
      <p:sp>
        <p:nvSpPr>
          <p:cNvPr id="11" name="expected-zero">
            <a:extLst xmlns:a="http://schemas.openxmlformats.org/drawingml/2006/main">
              <a:ext uri="{FF2B5EF4-FFF2-40B4-BE49-F238E27FC236}">
                <a16:creationId xmlns:a16="http://schemas.microsoft.com/office/drawing/2014/main" id="{17DA0D5E-C56B-4889-AB27-9728E263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14573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475" b="1">
                <a:solidFill>
                  <a:srgbClr val="0087A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5475" b="1">
                <a:solidFill>
                  <a:srgbClr val="008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0087A5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actual-label">
            <a:extLst xmlns:a="http://schemas.openxmlformats.org/drawingml/2006/main">
              <a:ext uri="{FF2B5EF4-FFF2-40B4-BE49-F238E27FC236}">
                <a16:creationId xmlns:a16="http://schemas.microsoft.com/office/drawing/2014/main" id="{B8C2BA61-FB7F-4E80-ADB2-05A14E41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955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实际</a:t>
            </a:r>
          </a:p>
        </p:txBody>
      </p:sp>
      <p:sp>
        <p:nvSpPr>
          <p:cNvPr id="13" name="actual-ten">
            <a:extLst xmlns:a="http://schemas.openxmlformats.org/drawingml/2006/main">
              <a:ext uri="{FF2B5EF4-FFF2-40B4-BE49-F238E27FC236}">
                <a16:creationId xmlns:a16="http://schemas.microsoft.com/office/drawing/2014/main" id="{69A61C78-65D3-4527-9E37-8F91F33D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95600"/>
            <a:ext cx="1952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475" b="1">
                <a:solidFill>
                  <a:srgbClr val="B848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5475" b="1">
                <a:solidFill>
                  <a:srgbClr val="B848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B8486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4" name="finding-divider">
            <a:extLst xmlns:a="http://schemas.openxmlformats.org/drawingml/2006/main">
              <a:ext uri="{FF2B5EF4-FFF2-40B4-BE49-F238E27FC236}">
                <a16:creationId xmlns:a16="http://schemas.microsoft.com/office/drawing/2014/main" id="{B875C2C5-B045-4FF6-9FF9-DD80E123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48125"/>
            <a:ext cx="443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E8"/>
          </a:solidFill>
          <a:ln xmlns:a="http://schemas.openxmlformats.org/drawingml/2006/main" w="0">
            <a:noFill/>
          </a:ln>
        </p:spPr>
      </p:sp>
      <p:sp>
        <p:nvSpPr>
          <p:cNvPr id="15" name="human-readable-label">
            <a:extLst xmlns:a="http://schemas.openxmlformats.org/drawingml/2006/main">
              <a:ext uri="{FF2B5EF4-FFF2-40B4-BE49-F238E27FC236}">
                <a16:creationId xmlns:a16="http://schemas.microsoft.com/office/drawing/2014/main" id="{9262191F-5709-430D-BF69-69BF03A6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443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人可读的失败说明</a:t>
            </a:r>
          </a:p>
        </p:txBody>
      </p:sp>
      <p:sp>
        <p:nvSpPr>
          <p:cNvPr id="16" name="observations-bullet-0">
            <a:extLst xmlns:a="http://schemas.openxmlformats.org/drawingml/2006/main">
              <a:ext uri="{FF2B5EF4-FFF2-40B4-BE49-F238E27FC236}">
                <a16:creationId xmlns:a16="http://schemas.microsoft.com/office/drawing/2014/main" id="{6A962EBE-C3D4-47F0-A220-95CAFAF1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52950"/>
            <a:ext cx="16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7" name="observations-0">
            <a:extLst xmlns:a="http://schemas.openxmlformats.org/drawingml/2006/main">
              <a:ext uri="{FF2B5EF4-FFF2-40B4-BE49-F238E27FC236}">
                <a16:creationId xmlns:a16="http://schemas.microsoft.com/office/drawing/2014/main" id="{5EAF6C6F-7CAC-421B-8E42-689B69CB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52950"/>
            <a:ext cx="4200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点击与进度检查通过</a:t>
            </a:r>
          </a:p>
        </p:txBody>
      </p:sp>
      <p:sp>
        <p:nvSpPr>
          <p:cNvPr id="18" name="observations-bullet-1">
            <a:extLst xmlns:a="http://schemas.openxmlformats.org/drawingml/2006/main">
              <a:ext uri="{FF2B5EF4-FFF2-40B4-BE49-F238E27FC236}">
                <a16:creationId xmlns:a16="http://schemas.microsoft.com/office/drawing/2014/main" id="{99C01D05-CAEE-420E-A46E-1AD03E29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14900"/>
            <a:ext cx="16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9" name="observations-1">
            <a:extLst xmlns:a="http://schemas.openxmlformats.org/drawingml/2006/main">
              <a:ext uri="{FF2B5EF4-FFF2-40B4-BE49-F238E27FC236}">
                <a16:creationId xmlns:a16="http://schemas.microsoft.com/office/drawing/2014/main" id="{CEC46940-DC4B-461D-859F-49B36651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14900"/>
            <a:ext cx="4200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得分应为 0，实际为 10</a:t>
            </a:r>
          </a:p>
        </p:txBody>
      </p:sp>
      <p:sp>
        <p:nvSpPr>
          <p:cNvPr id="20" name="observations-bullet-2">
            <a:extLst xmlns:a="http://schemas.openxmlformats.org/drawingml/2006/main">
              <a:ext uri="{FF2B5EF4-FFF2-40B4-BE49-F238E27FC236}">
                <a16:creationId xmlns:a16="http://schemas.microsoft.com/office/drawing/2014/main" id="{8466D508-8E73-4F58-A140-85DFAE7B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76850"/>
            <a:ext cx="16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21" name="observations-2">
            <a:extLst xmlns:a="http://schemas.openxmlformats.org/drawingml/2006/main">
              <a:ext uri="{FF2B5EF4-FFF2-40B4-BE49-F238E27FC236}">
                <a16:creationId xmlns:a16="http://schemas.microsoft.com/office/drawing/2014/main" id="{B7281EB4-3F49-449F-A486-69BD1BF4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76850"/>
            <a:ext cx="4200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原因与页面现场可以一起核对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86006-AC68-4076-91E5-7BDE049560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388bbf62c4661"/>
          <a:stretch xmlns:a="http://schemas.openxmlformats.org/drawingml/2006/main"/>
        </p:blipFill>
        <p:spPr>
          <a:xfrm xmlns:a="http://schemas.openxmlformats.org/drawingml/2006/main">
            <a:off x="7143750" y="58007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3" name="json-feedback-label">
            <a:extLst xmlns:a="http://schemas.openxmlformats.org/drawingml/2006/main">
              <a:ext uri="{FF2B5EF4-FFF2-40B4-BE49-F238E27FC236}">
                <a16:creationId xmlns:a16="http://schemas.microsoft.com/office/drawing/2014/main" id="{58D07D64-5230-41E3-A242-F1531EE2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4057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JSON 反馈给 agent</a:t>
            </a:r>
          </a:p>
        </p:txBody>
      </p:sp>
      <p:sp>
        <p:nvSpPr>
          <p:cNvPr id="24" name="json-feedback-detail">
            <a:extLst xmlns:a="http://schemas.openxmlformats.org/drawingml/2006/main">
              <a:ext uri="{FF2B5EF4-FFF2-40B4-BE49-F238E27FC236}">
                <a16:creationId xmlns:a16="http://schemas.microsoft.com/office/drawing/2014/main" id="{B1040518-8775-4446-91E3-E101F16E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43600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包含失败说明与证据入口</a:t>
            </a:r>
          </a:p>
        </p:txBody>
      </p:sp>
    </p:spTree>
    <p:extLst>
      <p:ext uri="{BB962C8B-B14F-4D97-AF65-F5344CB8AC3E}">
        <p14:creationId xmlns:p14="http://schemas.microsoft.com/office/powerpoint/2010/main" val="13141307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E3B2F3FA-78A0-40B1-A4F4-A6167EDD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37ED1-6CCA-451A-967E-FCEBA4410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7f260ba4e4c09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5F4288B0-0B96-41EC-83DA-6E557F1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Agent 反馈循环</a:t>
            </a:r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094464B4-BD8D-4320-8764-CF932A26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Agent 根据反馈决定下一轮验证</a:t>
            </a:r>
          </a:p>
        </p:txBody>
      </p:sp>
      <p:sp>
        <p:nvSpPr>
          <p:cNvPr id="5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16FCD59-3BD3-4836-980D-6ED438DD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读取失败依据、判断问题、选择复验范围，再用新的执行结果继续核对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A74FEC-60AA-480E-BAF5-38CEEA30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7" name="feedback-input">
            <a:extLst xmlns:a="http://schemas.openxmlformats.org/drawingml/2006/main">
              <a:ext uri="{FF2B5EF4-FFF2-40B4-BE49-F238E27FC236}">
                <a16:creationId xmlns:a16="http://schemas.microsoft.com/office/drawing/2014/main" id="{C9C11855-B9A2-42D5-9047-EF7CF932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238625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C"/>
          </a:solidFill>
          <a:ln xmlns:a="http://schemas.openxmlformats.org/drawingml/2006/main" w="0">
            <a:noFill/>
          </a:ln>
        </p:spPr>
      </p:sp>
      <p:sp>
        <p:nvSpPr>
          <p:cNvPr id="8" name="feedback-input-title">
            <a:extLst xmlns:a="http://schemas.openxmlformats.org/drawingml/2006/main">
              <a:ext uri="{FF2B5EF4-FFF2-40B4-BE49-F238E27FC236}">
                <a16:creationId xmlns:a16="http://schemas.microsoft.com/office/drawing/2014/main" id="{09FBF2C0-3D95-4B64-83B3-3E7B4A58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52725"/>
            <a:ext cx="3838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gherkai 反馈与证据</a:t>
            </a:r>
          </a:p>
        </p:txBody>
      </p:sp>
      <p:sp>
        <p:nvSpPr>
          <p:cNvPr id="9" name="feedback-inputs-bullet-0">
            <a:extLst xmlns:a="http://schemas.openxmlformats.org/drawingml/2006/main">
              <a:ext uri="{FF2B5EF4-FFF2-40B4-BE49-F238E27FC236}">
                <a16:creationId xmlns:a16="http://schemas.microsoft.com/office/drawing/2014/main" id="{BE6DF302-DD9F-4B95-BC2B-5692852B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161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0" name="feedback-inputs-0">
            <a:extLst xmlns:a="http://schemas.openxmlformats.org/drawingml/2006/main">
              <a:ext uri="{FF2B5EF4-FFF2-40B4-BE49-F238E27FC236}">
                <a16:creationId xmlns:a16="http://schemas.microsoft.com/office/drawing/2014/main" id="{115718A6-FEF3-4E58-93BC-0A68577F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43275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原要求与失败业务步骤</a:t>
            </a:r>
          </a:p>
        </p:txBody>
      </p:sp>
      <p:sp>
        <p:nvSpPr>
          <p:cNvPr id="11" name="feedback-inputs-bullet-1">
            <a:extLst xmlns:a="http://schemas.openxmlformats.org/drawingml/2006/main">
              <a:ext uri="{FF2B5EF4-FFF2-40B4-BE49-F238E27FC236}">
                <a16:creationId xmlns:a16="http://schemas.microsoft.com/office/drawing/2014/main" id="{77A4C8EE-BA90-45B3-B430-2D3CC130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161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2" name="feedback-inputs-1">
            <a:extLst xmlns:a="http://schemas.openxmlformats.org/drawingml/2006/main">
              <a:ext uri="{FF2B5EF4-FFF2-40B4-BE49-F238E27FC236}">
                <a16:creationId xmlns:a16="http://schemas.microsoft.com/office/drawing/2014/main" id="{0CE34983-A94E-482D-97CD-D0F6970B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应有值与实际值</a:t>
            </a:r>
          </a:p>
        </p:txBody>
      </p:sp>
      <p:sp>
        <p:nvSpPr>
          <p:cNvPr id="13" name="feedback-inputs-bullet-2">
            <a:extLst xmlns:a="http://schemas.openxmlformats.org/drawingml/2006/main">
              <a:ext uri="{FF2B5EF4-FFF2-40B4-BE49-F238E27FC236}">
                <a16:creationId xmlns:a16="http://schemas.microsoft.com/office/drawing/2014/main" id="{7D2A41C6-5439-48F3-9C61-99771488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61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4" name="feedback-inputs-2">
            <a:extLst xmlns:a="http://schemas.openxmlformats.org/drawingml/2006/main">
              <a:ext uri="{FF2B5EF4-FFF2-40B4-BE49-F238E27FC236}">
                <a16:creationId xmlns:a16="http://schemas.microsoft.com/office/drawing/2014/main" id="{C0474075-E594-4A8B-8B0D-2CDCC8CB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JSON 反馈及证据入口</a:t>
            </a:r>
          </a:p>
        </p:txBody>
      </p:sp>
      <p:sp>
        <p:nvSpPr>
          <p:cNvPr id="15" name="feedback-forward">
            <a:extLst xmlns:a="http://schemas.openxmlformats.org/drawingml/2006/main">
              <a:ext uri="{FF2B5EF4-FFF2-40B4-BE49-F238E27FC236}">
                <a16:creationId xmlns:a16="http://schemas.microsoft.com/office/drawing/2014/main" id="{6F89DE12-313D-4475-9BEF-0A5E6ECE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38550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DE2"/>
          </a:solidFill>
          <a:ln xmlns:a="http://schemas.openxmlformats.org/drawingml/2006/main" w="0">
            <a:noFill/>
          </a:ln>
        </p:spPr>
      </p:sp>
      <p:sp>
        <p:nvSpPr>
          <p:cNvPr id="16" name="agent-next-title">
            <a:extLst xmlns:a="http://schemas.openxmlformats.org/drawingml/2006/main">
              <a:ext uri="{FF2B5EF4-FFF2-40B4-BE49-F238E27FC236}">
                <a16:creationId xmlns:a16="http://schemas.microsoft.com/office/drawing/2014/main" id="{0C79EAFE-EC5C-432E-B4FA-7D1A1EBC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548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QA 或 agent 据此工作</a:t>
            </a:r>
          </a:p>
        </p:txBody>
      </p:sp>
      <p:sp>
        <p:nvSpPr>
          <p:cNvPr id="17" name="agent-next-bullet-0">
            <a:extLst xmlns:a="http://schemas.openxmlformats.org/drawingml/2006/main">
              <a:ext uri="{FF2B5EF4-FFF2-40B4-BE49-F238E27FC236}">
                <a16:creationId xmlns:a16="http://schemas.microsoft.com/office/drawing/2014/main" id="{B7792BEA-EC80-4A4F-A0CA-07F64504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16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8" name="agent-next-0">
            <a:extLst xmlns:a="http://schemas.openxmlformats.org/drawingml/2006/main">
              <a:ext uri="{FF2B5EF4-FFF2-40B4-BE49-F238E27FC236}">
                <a16:creationId xmlns:a16="http://schemas.microsoft.com/office/drawing/2014/main" id="{4A332128-5A20-4FCB-83D5-04C835D9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57550"/>
            <a:ext cx="524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对照原要求，核对失败现象</a:t>
            </a:r>
          </a:p>
        </p:txBody>
      </p:sp>
      <p:sp>
        <p:nvSpPr>
          <p:cNvPr id="19" name="agent-next-bullet-1">
            <a:extLst xmlns:a="http://schemas.openxmlformats.org/drawingml/2006/main">
              <a:ext uri="{FF2B5EF4-FFF2-40B4-BE49-F238E27FC236}">
                <a16:creationId xmlns:a16="http://schemas.microsoft.com/office/drawing/2014/main" id="{825BAB22-A5DA-423B-A43A-7C022648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16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20" name="agent-next-1">
            <a:extLst xmlns:a="http://schemas.openxmlformats.org/drawingml/2006/main">
              <a:ext uri="{FF2B5EF4-FFF2-40B4-BE49-F238E27FC236}">
                <a16:creationId xmlns:a16="http://schemas.microsoft.com/office/drawing/2014/main" id="{E58D1BD5-5E56-493D-8145-05195A4B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71900"/>
            <a:ext cx="524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区分测试实现问题与应用缺陷</a:t>
            </a:r>
          </a:p>
        </p:txBody>
      </p:sp>
      <p:sp>
        <p:nvSpPr>
          <p:cNvPr id="21" name="agent-next-bullet-2">
            <a:extLst xmlns:a="http://schemas.openxmlformats.org/drawingml/2006/main">
              <a:ext uri="{FF2B5EF4-FFF2-40B4-BE49-F238E27FC236}">
                <a16:creationId xmlns:a16="http://schemas.microsoft.com/office/drawing/2014/main" id="{4291D16A-0A70-4C82-8396-00DA4B95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16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22" name="agent-next-2">
            <a:extLst xmlns:a="http://schemas.openxmlformats.org/drawingml/2006/main">
              <a:ext uri="{FF2B5EF4-FFF2-40B4-BE49-F238E27FC236}">
                <a16:creationId xmlns:a16="http://schemas.microsoft.com/office/drawing/2014/main" id="{DBDD3C72-ADFD-47EB-8650-0DE0CBCA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524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选择带前置状态的复验范围</a:t>
            </a:r>
          </a:p>
        </p:txBody>
      </p:sp>
      <p:sp>
        <p:nvSpPr>
          <p:cNvPr id="23" name="agent-next-bullet-3">
            <a:extLst xmlns:a="http://schemas.openxmlformats.org/drawingml/2006/main">
              <a:ext uri="{FF2B5EF4-FFF2-40B4-BE49-F238E27FC236}">
                <a16:creationId xmlns:a16="http://schemas.microsoft.com/office/drawing/2014/main" id="{EAA5930F-9443-4ED2-8DB8-0B3DA375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16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24" name="agent-next-3">
            <a:extLst xmlns:a="http://schemas.openxmlformats.org/drawingml/2006/main">
              <a:ext uri="{FF2B5EF4-FFF2-40B4-BE49-F238E27FC236}">
                <a16:creationId xmlns:a16="http://schemas.microsoft.com/office/drawing/2014/main" id="{52657134-3A43-40E7-8081-721BBE3E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00600"/>
            <a:ext cx="524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辅助排查修复，再按原用例验证</a:t>
            </a:r>
          </a:p>
        </p:txBody>
      </p:sp>
      <p:sp>
        <p:nvSpPr>
          <p:cNvPr id="25" name="feedback-boundary">
            <a:extLst xmlns:a="http://schemas.openxmlformats.org/drawingml/2006/main">
              <a:ext uri="{FF2B5EF4-FFF2-40B4-BE49-F238E27FC236}">
                <a16:creationId xmlns:a16="http://schemas.microsoft.com/office/drawing/2014/main" id="{26ED4D09-52EC-4BEA-8813-8066E839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下一轮仍按原要求执行，新的结果继续进入反馈循环</a:t>
            </a:r>
          </a:p>
        </p:txBody>
      </p:sp>
    </p:spTree>
    <p:extLst>
      <p:ext uri="{BB962C8B-B14F-4D97-AF65-F5344CB8AC3E}">
        <p14:creationId xmlns:p14="http://schemas.microsoft.com/office/powerpoint/2010/main" val="12401412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33B75EE4-F389-499D-859D-44A2477D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89ADA-04CA-42E1-BC27-5BBE964436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1660745fb4b39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AE67C745-2948-46F1-A1A3-8A15C3A5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执行服务化</a:t>
            </a:r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5EF5FE92-4CE7-4ABF-B8AD-9DC5ED38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恢复应用后提交云端测试</a:t>
            </a:r>
          </a:p>
        </p:txBody>
      </p:sp>
      <p:sp>
        <p:nvSpPr>
          <p:cNvPr id="5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E8FC746-DBB6-4E5F-8F28-F5433382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本机便于个人调试，云端供团队持续复用已发布的执行能力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9C0BA7-BB7C-43F3-8DF1-78CB04B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7" name="local-title">
            <a:extLst xmlns:a="http://schemas.openxmlformats.org/drawingml/2006/main">
              <a:ext uri="{FF2B5EF4-FFF2-40B4-BE49-F238E27FC236}">
                <a16:creationId xmlns:a16="http://schemas.microsoft.com/office/drawing/2014/main" id="{0D98A0B7-8EB0-41CF-B9E0-E3FBE9E2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本机个人迭代</a:t>
            </a:r>
          </a:p>
        </p:txBody>
      </p:sp>
      <p:sp>
        <p:nvSpPr>
          <p:cNvPr id="8" name="cloud-title">
            <a:extLst xmlns:a="http://schemas.openxmlformats.org/drawingml/2006/main">
              <a:ext uri="{FF2B5EF4-FFF2-40B4-BE49-F238E27FC236}">
                <a16:creationId xmlns:a16="http://schemas.microsoft.com/office/drawing/2014/main" id="{1E728978-C570-4EEB-8217-EB58F500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62200"/>
            <a:ext cx="586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云端团队复用</a:t>
            </a:r>
          </a:p>
        </p:txBody>
      </p:sp>
      <p:sp>
        <p:nvSpPr>
          <p:cNvPr id="9" name="mode-divider">
            <a:extLst xmlns:a="http://schemas.openxmlformats.org/drawingml/2006/main">
              <a:ext uri="{FF2B5EF4-FFF2-40B4-BE49-F238E27FC236}">
                <a16:creationId xmlns:a16="http://schemas.microsoft.com/office/drawing/2014/main" id="{6B940177-C8BE-41E6-9DA5-A8A84CA1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E8"/>
          </a:solidFill>
          <a:ln xmlns:a="http://schemas.openxmlformats.org/drawingml/2006/main" w="0">
            <a:noFill/>
          </a:ln>
        </p:spPr>
      </p:sp>
      <p:sp>
        <p:nvSpPr>
          <p:cNvPr id="10" name="local-node-0">
            <a:extLst xmlns:a="http://schemas.openxmlformats.org/drawingml/2006/main">
              <a:ext uri="{FF2B5EF4-FFF2-40B4-BE49-F238E27FC236}">
                <a16:creationId xmlns:a16="http://schemas.microsoft.com/office/drawing/2014/main" id="{07A1DDB5-C466-46BC-8816-0F60D7D9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48000"/>
            <a:ext cx="33432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9FC"/>
          </a:solidFill>
          <a:ln xmlns:a="http://schemas.openxmlformats.org/drawingml/2006/main" w="9525">
            <a:solidFill>
              <a:srgbClr val="D8D2E8"/>
            </a:solidFill>
          </a:ln>
        </p:spPr>
      </p:sp>
      <p:sp>
        <p:nvSpPr>
          <p:cNvPr id="11" name="local-node-title-0">
            <a:extLst xmlns:a="http://schemas.openxmlformats.org/drawingml/2006/main">
              <a:ext uri="{FF2B5EF4-FFF2-40B4-BE49-F238E27FC236}">
                <a16:creationId xmlns:a16="http://schemas.microsoft.com/office/drawing/2014/main" id="{CAA06962-9253-4413-AA6B-CB1FDC39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3057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修改代码</a:t>
            </a:r>
          </a:p>
        </p:txBody>
      </p:sp>
      <p:sp>
        <p:nvSpPr>
          <p:cNvPr id="12" name="local-node-detail-0">
            <a:extLst xmlns:a="http://schemas.openxmlformats.org/drawingml/2006/main">
              <a:ext uri="{FF2B5EF4-FFF2-40B4-BE49-F238E27FC236}">
                <a16:creationId xmlns:a16="http://schemas.microsoft.com/office/drawing/2014/main" id="{B2E6A8AF-C223-4244-86CF-06769E5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00425"/>
            <a:ext cx="305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应用修复 / 确定性步骤代码</a:t>
            </a:r>
          </a:p>
        </p:txBody>
      </p:sp>
      <p:cxnSp>
        <p:nvCxnSpPr>
          <p:cNvPr id="13" name="local-down-0">
            <a:extLst xmlns:a="http://schemas.openxmlformats.org/drawingml/2006/main">
              <a:ext uri="{FF2B5EF4-FFF2-40B4-BE49-F238E27FC236}">
                <a16:creationId xmlns:a16="http://schemas.microsoft.com/office/drawing/2014/main" id="{B6F354EE-63D2-4060-8371-E3C13C7F5E03}"/>
              </a:ext>
            </a:extLst>
          </p:cNvPr>
          <p:cNvCxnSpPr/>
          <p:nvPr/>
        </p:nvCxnSpPr>
        <p:spPr>
          <a:xfrm xmlns:a="http://schemas.openxmlformats.org/drawingml/2006/main">
            <a:off x="2905125" y="37623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0087A5"/>
            </a:solidFill>
            <a:prstDash val="solid"/>
            <a:round/>
            <a:tailEnd type="triangle" w="med" len="med"/>
          </a:ln>
        </p:spPr>
      </p:cxnSp>
      <p:sp>
        <p:nvSpPr>
          <p:cNvPr id="14" name="local-node-1">
            <a:extLst xmlns:a="http://schemas.openxmlformats.org/drawingml/2006/main">
              <a:ext uri="{FF2B5EF4-FFF2-40B4-BE49-F238E27FC236}">
                <a16:creationId xmlns:a16="http://schemas.microsoft.com/office/drawing/2014/main" id="{BBC77FF4-DC9D-424E-B9A5-1AB1C12B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0"/>
            <a:ext cx="33432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7FC"/>
          </a:solidFill>
          <a:ln xmlns:a="http://schemas.openxmlformats.org/drawingml/2006/main" w="9525">
            <a:solidFill>
              <a:srgbClr val="D8D2E8"/>
            </a:solidFill>
          </a:ln>
        </p:spPr>
      </p:sp>
      <p:sp>
        <p:nvSpPr>
          <p:cNvPr id="15" name="local-node-title-1">
            <a:extLst xmlns:a="http://schemas.openxmlformats.org/drawingml/2006/main">
              <a:ext uri="{FF2B5EF4-FFF2-40B4-BE49-F238E27FC236}">
                <a16:creationId xmlns:a16="http://schemas.microsoft.com/office/drawing/2014/main" id="{39546E87-4BD1-4D0B-B276-6B601E59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3057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gherkai 本机执行</a:t>
            </a:r>
          </a:p>
        </p:txBody>
      </p:sp>
      <p:sp>
        <p:nvSpPr>
          <p:cNvPr id="16" name="local-node-detail-1">
            <a:extLst xmlns:a="http://schemas.openxmlformats.org/drawingml/2006/main">
              <a:ext uri="{FF2B5EF4-FFF2-40B4-BE49-F238E27FC236}">
                <a16:creationId xmlns:a16="http://schemas.microsoft.com/office/drawing/2014/main" id="{1116B5A6-2B3D-44AC-99AA-08702FA8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52925"/>
            <a:ext cx="305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直接加载本地确定性步骤代码</a:t>
            </a:r>
          </a:p>
        </p:txBody>
      </p:sp>
      <p:cxnSp>
        <p:nvCxnSpPr>
          <p:cNvPr id="17" name="local-down-1">
            <a:extLst xmlns:a="http://schemas.openxmlformats.org/drawingml/2006/main">
              <a:ext uri="{FF2B5EF4-FFF2-40B4-BE49-F238E27FC236}">
                <a16:creationId xmlns:a16="http://schemas.microsoft.com/office/drawing/2014/main" id="{900E7B6A-0A88-4986-8F27-B7BF908B5EB8}"/>
              </a:ext>
            </a:extLst>
          </p:cNvPr>
          <p:cNvCxnSpPr/>
          <p:nvPr/>
        </p:nvCxnSpPr>
        <p:spPr>
          <a:xfrm xmlns:a="http://schemas.openxmlformats.org/drawingml/2006/main">
            <a:off x="2905125" y="47148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0087A5"/>
            </a:solidFill>
            <a:prstDash val="solid"/>
            <a:round/>
            <a:tailEnd type="triangle" w="med" len="med"/>
          </a:ln>
        </p:spPr>
      </p:cxnSp>
      <p:sp>
        <p:nvSpPr>
          <p:cNvPr id="18" name="local-node-2">
            <a:extLst xmlns:a="http://schemas.openxmlformats.org/drawingml/2006/main">
              <a:ext uri="{FF2B5EF4-FFF2-40B4-BE49-F238E27FC236}">
                <a16:creationId xmlns:a16="http://schemas.microsoft.com/office/drawing/2014/main" id="{3A0B1CFD-C710-49C6-B79F-E97B7BCE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53000"/>
            <a:ext cx="33432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9FC"/>
          </a:solidFill>
          <a:ln xmlns:a="http://schemas.openxmlformats.org/drawingml/2006/main" w="9525">
            <a:solidFill>
              <a:srgbClr val="D8D2E8"/>
            </a:solidFill>
          </a:ln>
        </p:spPr>
      </p:sp>
      <p:sp>
        <p:nvSpPr>
          <p:cNvPr id="19" name="local-node-title-2">
            <a:extLst xmlns:a="http://schemas.openxmlformats.org/drawingml/2006/main">
              <a:ext uri="{FF2B5EF4-FFF2-40B4-BE49-F238E27FC236}">
                <a16:creationId xmlns:a16="http://schemas.microsoft.com/office/drawing/2014/main" id="{6921A5C6-6302-425A-ACC7-EA7F4E6B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3057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查看结果与失败依据</a:t>
            </a:r>
          </a:p>
        </p:txBody>
      </p:sp>
      <p:sp>
        <p:nvSpPr>
          <p:cNvPr id="20" name="local-node-detail-2">
            <a:extLst xmlns:a="http://schemas.openxmlformats.org/drawingml/2006/main">
              <a:ext uri="{FF2B5EF4-FFF2-40B4-BE49-F238E27FC236}">
                <a16:creationId xmlns:a16="http://schemas.microsoft.com/office/drawing/2014/main" id="{9670F378-FFA0-4CD6-87DD-4BCEFE68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05425"/>
            <a:ext cx="3057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QA 或 agent 继续处理</a:t>
            </a:r>
          </a:p>
        </p:txBody>
      </p:sp>
      <p:cxnSp>
        <p:nvCxnSpPr>
          <p:cNvPr id="21" name="local-return-bottom">
            <a:extLst xmlns:a="http://schemas.openxmlformats.org/drawingml/2006/main">
              <a:ext uri="{FF2B5EF4-FFF2-40B4-BE49-F238E27FC236}">
                <a16:creationId xmlns:a16="http://schemas.microsoft.com/office/drawing/2014/main" id="{6C6AD83A-18C5-4A0D-87D5-C630B7749C4D}"/>
              </a:ext>
            </a:extLst>
          </p:cNvPr>
          <p:cNvCxnSpPr/>
          <p:nvPr/>
        </p:nvCxnSpPr>
        <p:spPr>
          <a:xfrm xmlns:a="http://schemas.openxmlformats.org/drawingml/2006/main">
            <a:off x="828675" y="5276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0087A5"/>
            </a:solidFill>
            <a:prstDash val="solid"/>
            <a:round/>
          </a:ln>
        </p:spPr>
      </p:cxnSp>
      <p:cxnSp>
        <p:nvCxnSpPr>
          <p:cNvPr id="22" name="local-return-side">
            <a:extLst xmlns:a="http://schemas.openxmlformats.org/drawingml/2006/main">
              <a:ext uri="{FF2B5EF4-FFF2-40B4-BE49-F238E27FC236}">
                <a16:creationId xmlns:a16="http://schemas.microsoft.com/office/drawing/2014/main" id="{8D48A3D6-3F4F-4EDC-873D-B434B657739D}"/>
              </a:ext>
            </a:extLst>
          </p:cNvPr>
          <p:cNvCxnSpPr/>
          <p:nvPr/>
        </p:nvCxnSpPr>
        <p:spPr>
          <a:xfrm xmlns:a="http://schemas.openxmlformats.org/drawingml/2006/main">
            <a:off x="828675" y="3362325"/>
            <a:ext cx="0" cy="191452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0087A5"/>
            </a:solidFill>
            <a:prstDash val="solid"/>
            <a:round/>
          </a:ln>
        </p:spPr>
      </p:cxnSp>
      <p:cxnSp>
        <p:nvCxnSpPr>
          <p:cNvPr id="23" name="local-return-top">
            <a:extLst xmlns:a="http://schemas.openxmlformats.org/drawingml/2006/main">
              <a:ext uri="{FF2B5EF4-FFF2-40B4-BE49-F238E27FC236}">
                <a16:creationId xmlns:a16="http://schemas.microsoft.com/office/drawing/2014/main" id="{AA0E9798-102A-45F2-B243-996D2FF2E72B}"/>
              </a:ext>
            </a:extLst>
          </p:cNvPr>
          <p:cNvCxnSpPr/>
          <p:nvPr/>
        </p:nvCxnSpPr>
        <p:spPr>
          <a:xfrm xmlns:a="http://schemas.openxmlformats.org/drawingml/2006/main">
            <a:off x="828675" y="33623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0087A5"/>
            </a:solidFill>
            <a:prstDash val="solid"/>
            <a:round/>
            <a:tailEnd type="triangle" w="med" len="med"/>
          </a:ln>
        </p:spPr>
      </p:cxnSp>
      <p:sp>
        <p:nvSpPr>
          <p:cNvPr id="24" name="local-loop-caption">
            <a:extLst xmlns:a="http://schemas.openxmlformats.org/drawingml/2006/main">
              <a:ext uri="{FF2B5EF4-FFF2-40B4-BE49-F238E27FC236}">
                <a16:creationId xmlns:a16="http://schemas.microsoft.com/office/drawing/2014/main" id="{21052130-5BCD-4A98-99F7-38F1E068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648325"/>
            <a:ext cx="3343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依据反馈继续调试</a:t>
            </a:r>
          </a:p>
        </p:txBody>
      </p:sp>
      <p:sp>
        <p:nvSpPr>
          <p:cNvPr id="25" name="provider-node">
            <a:extLst xmlns:a="http://schemas.openxmlformats.org/drawingml/2006/main">
              <a:ext uri="{FF2B5EF4-FFF2-40B4-BE49-F238E27FC236}">
                <a16:creationId xmlns:a16="http://schemas.microsoft.com/office/drawing/2014/main" id="{F9095789-A267-4D8F-9818-95080915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5314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D8D2E8"/>
            </a:solidFill>
          </a:ln>
        </p:spPr>
      </p:sp>
      <p:sp>
        <p:nvSpPr>
          <p:cNvPr id="26" name="provider-title">
            <a:extLst xmlns:a="http://schemas.openxmlformats.org/drawingml/2006/main">
              <a:ext uri="{FF2B5EF4-FFF2-40B4-BE49-F238E27FC236}">
                <a16:creationId xmlns:a16="http://schemas.microsoft.com/office/drawing/2014/main" id="{F78EE4BF-2A62-493F-97D4-4CF13D2C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测试开发、基础设施团队</a:t>
            </a:r>
          </a:p>
        </p:txBody>
      </p:sp>
      <p:sp>
        <p:nvSpPr>
          <p:cNvPr id="27" name="provider-detail">
            <a:extLst xmlns:a="http://schemas.openxmlformats.org/drawingml/2006/main">
              <a:ext uri="{FF2B5EF4-FFF2-40B4-BE49-F238E27FC236}">
                <a16:creationId xmlns:a16="http://schemas.microsoft.com/office/drawing/2014/main" id="{42D3B230-A1D0-4945-BE80-ADD3F04D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19475"/>
            <a:ext cx="501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统一发布与维护确定性步骤代码、引擎及运行环境</a:t>
            </a:r>
          </a:p>
        </p:txBody>
      </p:sp>
      <p:cxnSp>
        <p:nvCxnSpPr>
          <p:cNvPr id="28" name="publish-down">
            <a:extLst xmlns:a="http://schemas.openxmlformats.org/drawingml/2006/main">
              <a:ext uri="{FF2B5EF4-FFF2-40B4-BE49-F238E27FC236}">
                <a16:creationId xmlns:a16="http://schemas.microsoft.com/office/drawing/2014/main" id="{ECF4DD7A-AB49-478F-8898-3F4DB9D74370}"/>
              </a:ext>
            </a:extLst>
          </p:cNvPr>
          <p:cNvCxnSpPr/>
          <p:nvPr/>
        </p:nvCxnSpPr>
        <p:spPr>
          <a:xfrm xmlns:a="http://schemas.openxmlformats.org/drawingml/2006/main">
            <a:off x="10153650" y="37814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713DE2"/>
            </a:solidFill>
            <a:prstDash val="solid"/>
            <a:round/>
            <a:tailEnd type="triangle" w="med" len="med"/>
          </a:ln>
        </p:spPr>
      </p:cxnSp>
      <p:sp>
        <p:nvSpPr>
          <p:cNvPr id="29" name="publish-label">
            <a:extLst xmlns:a="http://schemas.openxmlformats.org/drawingml/2006/main">
              <a:ext uri="{FF2B5EF4-FFF2-40B4-BE49-F238E27FC236}">
                <a16:creationId xmlns:a16="http://schemas.microsoft.com/office/drawing/2014/main" id="{962BDD1B-94F7-4EEA-8ED3-3BDBD1C5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838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发布执行能力</a:t>
            </a:r>
          </a:p>
        </p:txBody>
      </p:sp>
      <p:sp>
        <p:nvSpPr>
          <p:cNvPr id="30" name="caller-node">
            <a:extLst xmlns:a="http://schemas.openxmlformats.org/drawingml/2006/main">
              <a:ext uri="{FF2B5EF4-FFF2-40B4-BE49-F238E27FC236}">
                <a16:creationId xmlns:a16="http://schemas.microsoft.com/office/drawing/2014/main" id="{00378426-D47C-4120-BFE7-C73BA2C7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2057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7FC"/>
          </a:solidFill>
          <a:ln xmlns:a="http://schemas.openxmlformats.org/drawingml/2006/main" w="9525">
            <a:solidFill>
              <a:srgbClr val="D8D2E8"/>
            </a:solidFill>
          </a:ln>
        </p:spPr>
      </p:sp>
      <p:sp>
        <p:nvSpPr>
          <p:cNvPr id="31" name="caller-title">
            <a:extLst xmlns:a="http://schemas.openxmlformats.org/drawingml/2006/main">
              <a:ext uri="{FF2B5EF4-FFF2-40B4-BE49-F238E27FC236}">
                <a16:creationId xmlns:a16="http://schemas.microsoft.com/office/drawing/2014/main" id="{244C6057-E774-4425-B5B8-9B86823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81525"/>
            <a:ext cx="1847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QA / agent / 流水线</a:t>
            </a:r>
          </a:p>
        </p:txBody>
      </p:sp>
      <p:sp>
        <p:nvSpPr>
          <p:cNvPr id="32" name="backend-node">
            <a:extLst xmlns:a="http://schemas.openxmlformats.org/drawingml/2006/main">
              <a:ext uri="{FF2B5EF4-FFF2-40B4-BE49-F238E27FC236}">
                <a16:creationId xmlns:a16="http://schemas.microsoft.com/office/drawing/2014/main" id="{EC909950-26FA-4829-8A70-FB2BCC4A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43400"/>
            <a:ext cx="2857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D8D2E8"/>
            </a:solidFill>
          </a:ln>
        </p:spPr>
      </p:sp>
      <p:sp>
        <p:nvSpPr>
          <p:cNvPr id="33" name="backend-title">
            <a:extLst xmlns:a="http://schemas.openxmlformats.org/drawingml/2006/main">
              <a:ext uri="{FF2B5EF4-FFF2-40B4-BE49-F238E27FC236}">
                <a16:creationId xmlns:a16="http://schemas.microsoft.com/office/drawing/2014/main" id="{4559D482-457F-44FA-B9B9-CD138F51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386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共享后端</a:t>
            </a:r>
          </a:p>
        </p:txBody>
      </p:sp>
      <p:sp>
        <p:nvSpPr>
          <p:cNvPr id="34" name="backend-detail">
            <a:extLst xmlns:a="http://schemas.openxmlformats.org/drawingml/2006/main">
              <a:ext uri="{FF2B5EF4-FFF2-40B4-BE49-F238E27FC236}">
                <a16:creationId xmlns:a16="http://schemas.microsoft.com/office/drawing/2014/main" id="{DB390DCB-05CC-438E-982D-3A82E130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577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推进执行 · 归集结果</a:t>
            </a:r>
          </a:p>
        </p:txBody>
      </p:sp>
      <p:sp>
        <p:nvSpPr>
          <p:cNvPr id="35" name="submit-label">
            <a:extLst xmlns:a="http://schemas.openxmlformats.org/drawingml/2006/main">
              <a:ext uri="{FF2B5EF4-FFF2-40B4-BE49-F238E27FC236}">
                <a16:creationId xmlns:a16="http://schemas.microsoft.com/office/drawing/2014/main" id="{659944B6-C035-4075-9131-CC5F19BE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719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提交任务</a:t>
            </a:r>
          </a:p>
        </p:txBody>
      </p:sp>
      <p:cxnSp>
        <p:nvCxnSpPr>
          <p:cNvPr id="36" name="submit-right">
            <a:extLst xmlns:a="http://schemas.openxmlformats.org/drawingml/2006/main">
              <a:ext uri="{FF2B5EF4-FFF2-40B4-BE49-F238E27FC236}">
                <a16:creationId xmlns:a16="http://schemas.microsoft.com/office/drawing/2014/main" id="{34B801C7-FDD8-4C4D-BD7C-F8B4788B1C91}"/>
              </a:ext>
            </a:extLst>
          </p:cNvPr>
          <p:cNvCxnSpPr/>
          <p:nvPr/>
        </p:nvCxnSpPr>
        <p:spPr>
          <a:xfrm xmlns:a="http://schemas.openxmlformats.org/drawingml/2006/main">
            <a:off x="7943850" y="4595813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713DE2"/>
            </a:solidFill>
            <a:prstDash val="solid"/>
            <a:round/>
            <a:tailEnd type="triangle" w="med" len="med"/>
          </a:ln>
        </p:spPr>
      </p:cxnSp>
      <p:cxnSp>
        <p:nvCxnSpPr>
          <p:cNvPr id="37" name="query-left">
            <a:extLst xmlns:a="http://schemas.openxmlformats.org/drawingml/2006/main">
              <a:ext uri="{FF2B5EF4-FFF2-40B4-BE49-F238E27FC236}">
                <a16:creationId xmlns:a16="http://schemas.microsoft.com/office/drawing/2014/main" id="{409DD213-50EA-424F-91C9-8626E9DB8CBE}"/>
              </a:ext>
            </a:extLst>
          </p:cNvPr>
          <p:cNvCxnSpPr/>
          <p:nvPr/>
        </p:nvCxnSpPr>
        <p:spPr>
          <a:xfrm xmlns:a="http://schemas.openxmlformats.org/drawingml/2006/main">
            <a:off x="7943850" y="5005388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0087A5"/>
            </a:solidFill>
            <a:prstDash val="solid"/>
            <a:round/>
            <a:headEnd type="triangle" w="med" len="med"/>
          </a:ln>
        </p:spPr>
      </p:cxnSp>
      <p:sp>
        <p:nvSpPr>
          <p:cNvPr id="38" name="query-label">
            <a:extLst xmlns:a="http://schemas.openxmlformats.org/drawingml/2006/main">
              <a:ext uri="{FF2B5EF4-FFF2-40B4-BE49-F238E27FC236}">
                <a16:creationId xmlns:a16="http://schemas.microsoft.com/office/drawing/2014/main" id="{DC11F1CF-2303-4949-865D-3A0FC236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435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结果与证据</a:t>
            </a:r>
          </a:p>
        </p:txBody>
      </p:sp>
      <p:sp>
        <p:nvSpPr>
          <p:cNvPr id="39" name="run-id-label">
            <a:extLst xmlns:a="http://schemas.openxmlformats.org/drawingml/2006/main">
              <a:ext uri="{FF2B5EF4-FFF2-40B4-BE49-F238E27FC236}">
                <a16:creationId xmlns:a16="http://schemas.microsoft.com/office/drawing/2014/main" id="{27B5097A-4B37-4D85-A02C-F4EDE720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02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按 run ID 查询任务状态与执行结果</a:t>
            </a:r>
          </a:p>
        </p:txBody>
      </p:sp>
      <p:sp>
        <p:nvSpPr>
          <p:cNvPr id="40" name="infra-condition">
            <a:extLst xmlns:a="http://schemas.openxmlformats.org/drawingml/2006/main">
              <a:ext uri="{FF2B5EF4-FFF2-40B4-BE49-F238E27FC236}">
                <a16:creationId xmlns:a16="http://schemas.microsoft.com/office/drawing/2014/main" id="{A3620469-7277-4B02-8B2F-EC6B5825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本例两种模式均使用 AWS 浏览器与模型，被测应用通过隧道保持可达</a:t>
            </a:r>
          </a:p>
        </p:txBody>
      </p:sp>
    </p:spTree>
    <p:extLst>
      <p:ext uri="{BB962C8B-B14F-4D97-AF65-F5344CB8AC3E}">
        <p14:creationId xmlns:p14="http://schemas.microsoft.com/office/powerpoint/2010/main" val="6493215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35888C30-2BD8-4035-9F7F-5BBDC4CA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1C994-1F9E-4413-BA85-2FE62D7B11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254e234d94caf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FE1AC872-0143-49E0-8D3D-F3EC4AFF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多引擎编排</a:t>
            </a:r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AA3CE63C-1B6F-4368-AF5A-677FAAB7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一次提交中的两种执行引擎</a:t>
            </a:r>
          </a:p>
        </p:txBody>
      </p:sp>
      <p:sp>
        <p:nvSpPr>
          <p:cNvPr id="5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9736A8E-B87B-4B67-BF2C-00FF5E38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中文重玩主线继续复验，并加入项目已有的英文结算场景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6A8B66-5D7C-49B3-8E7A-E0E07F5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FEC07-A72C-41F1-92F2-21B9AF4FEDEA}"/>
              </a:ext>
            </a:extLst>
          </p:cNvPr>
          <p:cNvGraphicFramePr/>
          <p:nvPr/>
        </p:nvGraphicFramePr>
        <p:xfrm>
          <a:off xmlns:a="http://schemas.openxmlformats.org/drawingml/2006/main" x="609600" y="24098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05425"/>
                <a:gridCol w="2362200"/>
                <a:gridCol w="3305175"/>
              </a:tblGrid>
              <a:tr h="6286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本次运行内容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执行引擎</a:t>
                      </a:r>
                    </a:p>
                  </a:txBody>
                  <a:tcPr marL="91440" marR="91440" marT="45720" marB="45720" anchor="ctr"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确定性步骤代码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</a:tr>
              <a:tr h="6286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中文重玩主线（3 个场景）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Midscene</a:t>
                      </a:r>
                    </a:p>
                  </a:txBody>
                  <a:tcPr marL="91440" marR="91440" marT="45720" marB="45720" anchor="ctr"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TypeScript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noFill/>
                  </a:tcPr>
                </a:tc>
              </a:tr>
              <a:tr h="6286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英文结算检查（1 个场景）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Nova Act</a:t>
                      </a:r>
                    </a:p>
                  </a:txBody>
                  <a:tcPr marL="91440" marR="91440" marT="45720" marB="45720" anchor="ctr"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Python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un-node">
            <a:extLst xmlns:a="http://schemas.openxmlformats.org/drawingml/2006/main">
              <a:ext uri="{FF2B5EF4-FFF2-40B4-BE49-F238E27FC236}">
                <a16:creationId xmlns:a16="http://schemas.microsoft.com/office/drawing/2014/main" id="{70366AD0-32E1-46F6-AD83-7F08D336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7241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D8D2E8"/>
            </a:solidFill>
          </a:ln>
        </p:spPr>
      </p:sp>
      <p:sp>
        <p:nvSpPr>
          <p:cNvPr id="9" name="run-node-title">
            <a:extLst xmlns:a="http://schemas.openxmlformats.org/drawingml/2006/main">
              <a:ext uri="{FF2B5EF4-FFF2-40B4-BE49-F238E27FC236}">
                <a16:creationId xmlns:a16="http://schemas.microsoft.com/office/drawing/2014/main" id="{B16AB32C-D550-4625-BB4A-11C9A4E1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同一 run ID</a:t>
            </a:r>
          </a:p>
        </p:txBody>
      </p:sp>
      <p:sp>
        <p:nvSpPr>
          <p:cNvPr id="10" name="run-node-detail">
            <a:extLst xmlns:a="http://schemas.openxmlformats.org/drawingml/2006/main">
              <a:ext uri="{FF2B5EF4-FFF2-40B4-BE49-F238E27FC236}">
                <a16:creationId xmlns:a16="http://schemas.microsoft.com/office/drawing/2014/main" id="{EDB0DF3C-59B5-4789-9F78-D371C8C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一次提交，2 个独立任务</a:t>
            </a:r>
          </a:p>
        </p:txBody>
      </p:sp>
      <p:cxnSp>
        <p:nvCxnSpPr>
          <p:cNvPr id="11" name="run-fork-input">
            <a:extLst xmlns:a="http://schemas.openxmlformats.org/drawingml/2006/main">
              <a:ext uri="{FF2B5EF4-FFF2-40B4-BE49-F238E27FC236}">
                <a16:creationId xmlns:a16="http://schemas.microsoft.com/office/drawing/2014/main" id="{C4CFEA05-D232-47FE-84DC-5DB14D7D168A}"/>
              </a:ext>
            </a:extLst>
          </p:cNvPr>
          <p:cNvCxnSpPr/>
          <p:nvPr/>
        </p:nvCxnSpPr>
        <p:spPr>
          <a:xfrm xmlns:a="http://schemas.openxmlformats.org/drawingml/2006/main">
            <a:off x="3333750" y="5153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713DE2"/>
            </a:solidFill>
            <a:prstDash val="solid"/>
            <a:round/>
          </a:ln>
        </p:spPr>
      </p:cxnSp>
      <p:cxnSp>
        <p:nvCxnSpPr>
          <p:cNvPr id="12" name="run-fork-branch">
            <a:extLst xmlns:a="http://schemas.openxmlformats.org/drawingml/2006/main">
              <a:ext uri="{FF2B5EF4-FFF2-40B4-BE49-F238E27FC236}">
                <a16:creationId xmlns:a16="http://schemas.microsoft.com/office/drawing/2014/main" id="{A5A85635-E23D-4622-8892-082D024FFBEF}"/>
              </a:ext>
            </a:extLst>
          </p:cNvPr>
          <p:cNvCxnSpPr/>
          <p:nvPr/>
        </p:nvCxnSpPr>
        <p:spPr>
          <a:xfrm xmlns:a="http://schemas.openxmlformats.org/drawingml/2006/main">
            <a:off x="3905250" y="4867275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713DE2"/>
            </a:solidFill>
            <a:prstDash val="solid"/>
            <a:round/>
          </a:ln>
        </p:spPr>
      </p:cxnSp>
      <p:cxnSp>
        <p:nvCxnSpPr>
          <p:cNvPr id="13" name="run-fork-midscene">
            <a:extLst xmlns:a="http://schemas.openxmlformats.org/drawingml/2006/main">
              <a:ext uri="{FF2B5EF4-FFF2-40B4-BE49-F238E27FC236}">
                <a16:creationId xmlns:a16="http://schemas.microsoft.com/office/drawing/2014/main" id="{F15392BC-E16F-4A38-8A3C-8D9F685182A9}"/>
              </a:ext>
            </a:extLst>
          </p:cNvPr>
          <p:cNvCxnSpPr/>
          <p:nvPr/>
        </p:nvCxnSpPr>
        <p:spPr>
          <a:xfrm xmlns:a="http://schemas.openxmlformats.org/drawingml/2006/main">
            <a:off x="3905250" y="48672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713DE2"/>
            </a:solidFill>
            <a:prstDash val="solid"/>
            <a:round/>
            <a:tailEnd type="triangle" w="med" len="med"/>
          </a:ln>
        </p:spPr>
      </p:cxnSp>
      <p:cxnSp>
        <p:nvCxnSpPr>
          <p:cNvPr id="14" name="run-fork-novaact">
            <a:extLst xmlns:a="http://schemas.openxmlformats.org/drawingml/2006/main">
              <a:ext uri="{FF2B5EF4-FFF2-40B4-BE49-F238E27FC236}">
                <a16:creationId xmlns:a16="http://schemas.microsoft.com/office/drawing/2014/main" id="{E9B3E56F-4FD1-459C-BEC4-2CC8B9E26BBA}"/>
              </a:ext>
            </a:extLst>
          </p:cNvPr>
          <p:cNvCxnSpPr/>
          <p:nvPr/>
        </p:nvCxnSpPr>
        <p:spPr>
          <a:xfrm xmlns:a="http://schemas.openxmlformats.org/drawingml/2006/main">
            <a:off x="3905250" y="56007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713DE2"/>
            </a:solidFill>
            <a:prstDash val="solid"/>
            <a:round/>
            <a:tailEnd type="triangle" w="med" len="med"/>
          </a:ln>
        </p:spPr>
      </p:cxnSp>
      <p:sp>
        <p:nvSpPr>
          <p:cNvPr id="15" name="job-node-0">
            <a:extLst xmlns:a="http://schemas.openxmlformats.org/drawingml/2006/main">
              <a:ext uri="{FF2B5EF4-FFF2-40B4-BE49-F238E27FC236}">
                <a16:creationId xmlns:a16="http://schemas.microsoft.com/office/drawing/2014/main" id="{D19ABA5A-61D8-463E-B94F-2D87E34B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72000"/>
            <a:ext cx="70580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7FC"/>
          </a:solidFill>
          <a:ln xmlns:a="http://schemas.openxmlformats.org/drawingml/2006/main" w="9525">
            <a:solidFill>
              <a:srgbClr val="D8D2E8"/>
            </a:solidFill>
          </a:ln>
        </p:spPr>
      </p:sp>
      <p:sp>
        <p:nvSpPr>
          <p:cNvPr id="16" name="job-title-0">
            <a:extLst xmlns:a="http://schemas.openxmlformats.org/drawingml/2006/main">
              <a:ext uri="{FF2B5EF4-FFF2-40B4-BE49-F238E27FC236}">
                <a16:creationId xmlns:a16="http://schemas.microsoft.com/office/drawing/2014/main" id="{DDB9FF33-A966-4296-8F34-00493513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86300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0087A5"/>
                </a:solidFill>
                <a:latin typeface="Hiragino Sans GB"/>
                <a:ea typeface="Hiragino Sans GB"/>
                <a:cs typeface="Hiragino Sans GB"/>
              </a:rPr>
              <a:t>Midscene 任务</a:t>
            </a:r>
          </a:p>
        </p:txBody>
      </p:sp>
      <p:sp>
        <p:nvSpPr>
          <p:cNvPr id="17" name="job-separator-0">
            <a:extLst xmlns:a="http://schemas.openxmlformats.org/drawingml/2006/main">
              <a:ext uri="{FF2B5EF4-FFF2-40B4-BE49-F238E27FC236}">
                <a16:creationId xmlns:a16="http://schemas.microsoft.com/office/drawing/2014/main" id="{038BF706-02CF-4DE0-A974-BD8396A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7053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E8"/>
          </a:solidFill>
          <a:ln xmlns:a="http://schemas.openxmlformats.org/drawingml/2006/main" w="0">
            <a:noFill/>
          </a:ln>
        </p:spPr>
      </p:sp>
      <p:sp>
        <p:nvSpPr>
          <p:cNvPr id="18" name="job-browser-0">
            <a:extLst xmlns:a="http://schemas.openxmlformats.org/drawingml/2006/main">
              <a:ext uri="{FF2B5EF4-FFF2-40B4-BE49-F238E27FC236}">
                <a16:creationId xmlns:a16="http://schemas.microsoft.com/office/drawing/2014/main" id="{3C025A60-3CBD-4D67-AB22-AA417877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独立浏览器会话</a:t>
            </a:r>
          </a:p>
        </p:txBody>
      </p:sp>
      <p:sp>
        <p:nvSpPr>
          <p:cNvPr id="19" name="job-node-1">
            <a:extLst xmlns:a="http://schemas.openxmlformats.org/drawingml/2006/main">
              <a:ext uri="{FF2B5EF4-FFF2-40B4-BE49-F238E27FC236}">
                <a16:creationId xmlns:a16="http://schemas.microsoft.com/office/drawing/2014/main" id="{B95BC0DD-F49A-4E49-8DF4-C32FF0A0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05425"/>
            <a:ext cx="70580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D8D2E8"/>
            </a:solidFill>
          </a:ln>
        </p:spPr>
      </p:sp>
      <p:sp>
        <p:nvSpPr>
          <p:cNvPr id="20" name="job-title-1">
            <a:extLst xmlns:a="http://schemas.openxmlformats.org/drawingml/2006/main">
              <a:ext uri="{FF2B5EF4-FFF2-40B4-BE49-F238E27FC236}">
                <a16:creationId xmlns:a16="http://schemas.microsoft.com/office/drawing/2014/main" id="{A55D9165-0ABE-4A42-A3FA-5EDB5DB7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41972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Nova Act 任务</a:t>
            </a:r>
          </a:p>
        </p:txBody>
      </p:sp>
      <p:sp>
        <p:nvSpPr>
          <p:cNvPr id="21" name="job-separator-1">
            <a:extLst xmlns:a="http://schemas.openxmlformats.org/drawingml/2006/main">
              <a:ext uri="{FF2B5EF4-FFF2-40B4-BE49-F238E27FC236}">
                <a16:creationId xmlns:a16="http://schemas.microsoft.com/office/drawing/2014/main" id="{0FE5BF53-7E31-4E07-BE54-3E4662EF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438775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E8"/>
          </a:solidFill>
          <a:ln xmlns:a="http://schemas.openxmlformats.org/drawingml/2006/main" w="0">
            <a:noFill/>
          </a:ln>
        </p:spPr>
      </p:sp>
      <p:sp>
        <p:nvSpPr>
          <p:cNvPr id="22" name="job-browser-1">
            <a:extLst xmlns:a="http://schemas.openxmlformats.org/drawingml/2006/main">
              <a:ext uri="{FF2B5EF4-FFF2-40B4-BE49-F238E27FC236}">
                <a16:creationId xmlns:a16="http://schemas.microsoft.com/office/drawing/2014/main" id="{A5DC1093-3A0D-4206-951A-E155F56F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19725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独立浏览器会话</a:t>
            </a:r>
          </a:p>
        </p:txBody>
      </p:sp>
      <p:sp>
        <p:nvSpPr>
          <p:cNvPr id="23" name="engine-bridge">
            <a:extLst xmlns:a="http://schemas.openxmlformats.org/drawingml/2006/main">
              <a:ext uri="{FF2B5EF4-FFF2-40B4-BE49-F238E27FC236}">
                <a16:creationId xmlns:a16="http://schemas.microsoft.com/office/drawing/2014/main" id="{7EB7057B-E181-4D69-8C57-8FF9E4A4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分别查看两个任务的判定与证据，继续使用同一套 gherkai 工作流程</a:t>
            </a:r>
          </a:p>
        </p:txBody>
      </p:sp>
    </p:spTree>
    <p:extLst>
      <p:ext uri="{BB962C8B-B14F-4D97-AF65-F5344CB8AC3E}">
        <p14:creationId xmlns:p14="http://schemas.microsoft.com/office/powerpoint/2010/main" val="6493215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CCAAA-BB64-4370-9DA3-C99F9297EE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86d5c1dbc45f3"/>
          <a:stretch xmlns:a="http://schemas.openxmlformats.org/drawingml/2006/main"/>
        </p:blipFill>
        <p:spPr>
          <a:xfrm xmlns:a="http://schemas.openxmlformats.org/drawingml/2006/main">
            <a:off x="609600" y="7334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" name="page-purpose">
            <a:extLst xmlns:a="http://schemas.openxmlformats.org/drawingml/2006/main">
              <a:ext uri="{FF2B5EF4-FFF2-40B4-BE49-F238E27FC236}">
                <a16:creationId xmlns:a16="http://schemas.microsoft.com/office/drawing/2014/main" id="{513F30F2-E2F5-485A-8D1A-935A24A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云端复验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6530C84-36A9-4547-AF31-8A9C045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提交成功之后，还要收回业务判定与证据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D41F08F-F21D-4B8C-8E56-6DE22867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主线已有实测结果对照：再玩一次后，进度与得分是否符合要求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7B34E6-EC52-46A5-B599-4B72934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E1B2D-1CB1-44E9-8D3B-CC284F8CD70C}"/>
              </a:ext>
            </a:extLst>
          </p:cNvPr>
          <p:cNvGraphicFramePr/>
          <p:nvPr/>
        </p:nvGraphicFramePr>
        <p:xfrm>
          <a:off xmlns:a="http://schemas.openxmlformats.org/drawingml/2006/main" x="609600" y="246697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57675"/>
                <a:gridCol w="2238375"/>
                <a:gridCol w="2238375"/>
                <a:gridCol w="2238375"/>
              </a:tblGrid>
              <a:tr h="6286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同一项验收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本机正常</a:t>
                      </a:r>
                    </a:p>
                  </a:txBody>
                  <a:tcPr marL="91440" marR="91440" marT="45720" marB="45720" anchor="ctr"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本机缺陷</a:t>
                      </a:r>
                    </a:p>
                  </a:txBody>
                  <a:tcPr marL="91440" marR="91440" marT="45720" marB="45720" anchor="ctr"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云端主线复验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lnT w="4763">
                      <a:solidFill>
                        <a:srgbClr val="D8D2E8"/>
                      </a:solidFill>
                    </a:lnT>
                    <a:solidFill>
                      <a:srgbClr val="564675"/>
                    </a:solidFill>
                  </a:tcPr>
                </a:tc>
              </a:tr>
              <a:tr h="6286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再玩一次后进度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/ 10</a:t>
                      </a:r>
                    </a:p>
                  </a:txBody>
                  <a:tcPr marL="91440" marR="91440" marT="45720" marB="45720" anchor="ctr"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/ 10</a:t>
                      </a:r>
                    </a:p>
                  </a:txBody>
                  <a:tcPr marL="91440" marR="91440" marT="45720" marB="45720" anchor="ctr"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/ 10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noFill/>
                  </a:tcPr>
                </a:tc>
              </a:tr>
              <a:tr h="6286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再玩一次后得分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solidFill>
                      <a:srgbClr val="EEE8F8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97B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EE8F8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B8486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EE8F8"/>
                    </a:solidFill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97B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solidFill>
                      <a:srgbClr val="EEE8F8"/>
                    </a:solidFill>
                  </a:tcPr>
                </a:tc>
              </a:tr>
              <a:tr h="628650"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64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是否符合原要求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2E8"/>
                      </a:solidFill>
                    </a:lnL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97B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B8486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失败</a:t>
                      </a:r>
                    </a:p>
                  </a:txBody>
                  <a:tcPr marL="91440" marR="91440" marT="45720" marB="45720" anchor="ctr"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  <a:tc>
                  <a:txBody>
                    <a:bodyPr wrap="none"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97B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2E8"/>
                      </a:solidFill>
                    </a:lnR>
                    <a:lnB w="4763">
                      <a:solidFill>
                        <a:srgbClr val="D8D2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store-principle">
            <a:extLst xmlns:a="http://schemas.openxmlformats.org/drawingml/2006/main">
              <a:ext uri="{FF2B5EF4-FFF2-40B4-BE49-F238E27FC236}">
                <a16:creationId xmlns:a16="http://schemas.microsoft.com/office/drawing/2014/main" id="{9E868478-8E26-4246-96B5-4006C14C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恢复应用，保留原期望；用复验确认问题已消除。</a:t>
            </a:r>
          </a:p>
        </p:txBody>
      </p:sp>
    </p:spTree>
    <p:extLst>
      <p:ext uri="{BB962C8B-B14F-4D97-AF65-F5344CB8AC3E}">
        <p14:creationId xmlns:p14="http://schemas.microsoft.com/office/powerpoint/2010/main" val="13141307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35A72-8C57-4AC1-A707-B5A4D61F1C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7d782f00b4b72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color-wash">
            <a:extLst xmlns:a="http://schemas.openxmlformats.org/drawingml/2006/main">
              <a:ext uri="{FF2B5EF4-FFF2-40B4-BE49-F238E27FC236}">
                <a16:creationId xmlns:a16="http://schemas.microsoft.com/office/drawing/2014/main" id="{02B4CF99-265E-484A-ABE8-04AB41AD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E82E8">
                  <a:alpha val="45000"/>
                </a:srgbClr>
              </a:gs>
              <a:gs pos="23000">
                <a:srgbClr val="D8BEF5">
                  <a:alpha val="24000"/>
                </a:srgbClr>
              </a:gs>
              <a:gs pos="46000">
                <a:srgbClr val="FFFFFF">
                  <a:alpha val="0"/>
                </a:srgbClr>
              </a:gs>
              <a:gs pos="72000">
                <a:srgbClr val="A8CEF5">
                  <a:alpha val="12000"/>
                </a:srgbClr>
              </a:gs>
              <a:gs pos="100000">
                <a:srgbClr val="64B9E8">
                  <a:alpha val="38000"/>
                </a:srgbClr>
              </a:gs>
            </a:gsLst>
            <a:lin ang="8700000"/>
          </a:gradFill>
          <a:ln xmlns:a="http://schemas.openxmlformats.org/drawingml/2006/main" w="0">
            <a:noFill/>
          </a:ln>
        </p:spPr>
      </p:sp>
      <p:sp>
        <p:nvSpPr>
          <p:cNvPr id="5" name="brand-gherkai">
            <a:extLst xmlns:a="http://schemas.openxmlformats.org/drawingml/2006/main">
              <a:ext uri="{FF2B5EF4-FFF2-40B4-BE49-F238E27FC236}">
                <a16:creationId xmlns:a16="http://schemas.microsoft.com/office/drawing/2014/main" id="{AD624AFE-2E4A-49B1-9276-1B373E71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E2C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4E2C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E2C9A"/>
                </a:solidFill>
                <a:latin typeface="Helvetica Neue"/>
                <a:ea typeface="Helvetica Neue"/>
                <a:cs typeface="Helvetica Neue"/>
              </a:rPr>
              <a:t>gherkai</a:t>
            </a:r>
          </a:p>
        </p:txBody>
      </p:sp>
      <p:sp>
        <p:nvSpPr>
          <p:cNvPr id="6" name="brand-section">
            <a:extLst xmlns:a="http://schemas.openxmlformats.org/drawingml/2006/main">
              <a:ext uri="{FF2B5EF4-FFF2-40B4-BE49-F238E27FC236}">
                <a16:creationId xmlns:a16="http://schemas.microsoft.com/office/drawing/2014/main" id="{09FC2D1C-AD56-48A8-9E7F-ED16AFBC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工作方法演示</a:t>
            </a:r>
          </a:p>
        </p:txBody>
      </p:sp>
      <p:sp>
        <p:nvSpPr>
          <p:cNvPr id="7" name="brand-header-rule">
            <a:extLst xmlns:a="http://schemas.openxmlformats.org/drawingml/2006/main">
              <a:ext uri="{FF2B5EF4-FFF2-40B4-BE49-F238E27FC236}">
                <a16:creationId xmlns:a16="http://schemas.microsoft.com/office/drawing/2014/main" id="{8C375FED-0658-4B09-BEF2-5C5FCEBA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98ADD"/>
              </a:gs>
              <a:gs pos="57000">
                <a:srgbClr val="7D45EC"/>
              </a:gs>
              <a:gs pos="100000">
                <a:srgbClr val="E348B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8" name="brand-footer-rule">
            <a:extLst xmlns:a="http://schemas.openxmlformats.org/drawingml/2006/main">
              <a:ext uri="{FF2B5EF4-FFF2-40B4-BE49-F238E27FC236}">
                <a16:creationId xmlns:a16="http://schemas.microsoft.com/office/drawing/2014/main" id="{F423217A-10FF-402C-BD9F-854ADD5B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EC"/>
          </a:solidFill>
          <a:ln xmlns:a="http://schemas.openxmlformats.org/drawingml/2006/main" w="0">
            <a:noFill/>
          </a:ln>
        </p:spPr>
      </p:sp>
      <p:sp>
        <p:nvSpPr>
          <p:cNvPr id="11" name="repo-header-link">
            <a:hlinkClick xmlns:r="http://schemas.openxmlformats.org/officeDocument/2006/relationships" xmlns:a="http://schemas.openxmlformats.org/drawingml/2006/main" r:id="R2e6a1b41c8b547f5"/>
            <a:extLst xmlns:a="http://schemas.openxmlformats.org/drawingml/2006/main">
              <a:ext uri="{FF2B5EF4-FFF2-40B4-BE49-F238E27FC236}">
                <a16:creationId xmlns:a16="http://schemas.microsoft.com/office/drawing/2014/main" id="{DE09D522-3251-4BC9-A916-3A9DF9C7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8613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70658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706582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706582"/>
                </a:solidFill>
                <a:latin typeface="Menlo"/>
                <a:ea typeface="Menlo"/>
                <a:cs typeface="Menlo"/>
              </a:rPr>
              <a:t>github.com/zhiyanliu/gherkai</a:t>
            </a:r>
          </a:p>
        </p:txBody>
      </p:sp>
      <p:sp>
        <p:nvSpPr>
          <p:cNvPr id="1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CDC693F9-4A56-4BD8-964F-5BF0C1CD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14475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复现资料与项目入口</a:t>
            </a:r>
          </a:p>
        </p:txBody>
      </p:sp>
      <p:sp>
        <p:nvSpPr>
          <p:cNvPr id="1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8129B4B9-39F6-421E-A062-E70C6E2D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0866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0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50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025" b="1">
                <a:solidFill>
                  <a:srgbClr val="252644"/>
                </a:solidFill>
                <a:latin typeface="Hiragino Sans GB"/>
                <a:ea typeface="Hiragino Sans GB"/>
                <a:cs typeface="Hiragino Sans GB"/>
              </a:rPr>
              <a:t>欢迎试用 gherkai</a:t>
            </a:r>
          </a:p>
        </p:txBody>
      </p:sp>
      <p:sp>
        <p:nvSpPr>
          <p:cNvPr id="14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6D46AD16-7240-4491-9C63-C6F1882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9525"/>
            <a:ext cx="70866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3677F"/>
                </a:solidFill>
                <a:latin typeface="Hiragino Sans GB"/>
                <a:ea typeface="Hiragino Sans GB"/>
                <a:cs typeface="Hiragino Sans GB"/>
              </a:rPr>
              <a:t>先复现这条流程，再带入你的业务要求</a:t>
            </a:r>
          </a:p>
        </p:txBody>
      </p:sp>
      <p:sp>
        <p:nvSpPr>
          <p:cNvPr id="15" name="closing-link-label">
            <a:extLst xmlns:a="http://schemas.openxmlformats.org/drawingml/2006/main">
              <a:ext uri="{FF2B5EF4-FFF2-40B4-BE49-F238E27FC236}">
                <a16:creationId xmlns:a16="http://schemas.microsoft.com/office/drawing/2014/main" id="{A817A5C1-8C41-46C4-8399-060A6735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7086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713DE2"/>
                </a:solidFill>
                <a:latin typeface="Hiragino Sans GB"/>
                <a:ea typeface="Hiragino Sans GB"/>
                <a:cs typeface="Hiragino Sans GB"/>
              </a:rPr>
              <a:t>演示项目与 runbook</a:t>
            </a:r>
          </a:p>
        </p:txBody>
      </p:sp>
      <p:sp>
        <p:nvSpPr>
          <p:cNvPr id="16" name="closing-demo-link">
            <a:extLst xmlns:a="http://schemas.openxmlformats.org/drawingml/2006/main">
              <a:ext uri="{FF2B5EF4-FFF2-40B4-BE49-F238E27FC236}">
                <a16:creationId xmlns:a16="http://schemas.microsoft.com/office/drawing/2014/main" id="{1DE67FEF-3A57-4EE7-A4EF-98E0DE8B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57850"/>
            <a:ext cx="7115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52644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52644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52644"/>
                </a:solidFill>
                <a:latin typeface="Menlo"/>
                <a:ea typeface="Menlo"/>
                <a:cs typeface="Menlo"/>
              </a:rPr>
              <a:t>github.com/zhiyanliu/gherkai-webapp-demo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A10696-B92E-4FD9-B1DD-096A81AC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48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3677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63677F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87498575"/>
      </p:ext>
    </p:extLst>
  </p:cSld>
</p:sld>
</file>

<file path=ppt/theme/theme1.xml><?xml version="1.0" encoding="utf-8"?>
<a:theme xmlns:a="http://schemas.openxmlformats.org/drawingml/2006/main" name="ChatGPT">
  <a:themeElements>
    <a:clrScheme name="gherkai Spectrum">
      <a:dk1>
        <a:srgbClr val="252644"/>
      </a:dk1>
      <a:lt1>
        <a:srgbClr val="FCFBFF"/>
      </a:lt1>
      <a:dk2>
        <a:srgbClr val="63677F"/>
      </a:dk2>
      <a:lt2>
        <a:srgbClr val="EEE8FA"/>
      </a:lt2>
      <a:accent1>
        <a:srgbClr val="7240D9"/>
      </a:accent1>
      <a:accent2>
        <a:srgbClr val="BB4E18"/>
      </a:accent2>
      <a:accent3>
        <a:srgbClr val="087F9E"/>
      </a:accent3>
      <a:accent4>
        <a:srgbClr val="9B93B3"/>
      </a:accent4>
      <a:accent5>
        <a:srgbClr val="6098BB"/>
      </a:accent5>
      <a:accent6>
        <a:srgbClr val="9692BA"/>
      </a:accent6>
      <a:hlink>
        <a:srgbClr val="7240D9"/>
      </a:hlink>
      <a:folHlink>
        <a:srgbClr val="B9A7E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gherkai Spectr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2026-10-10T06:56:53.0860000Z</dcterms:created>
  <dcterms:modified xsi:type="dcterms:W3CDTF">2026-10-10T06:56:53.0860000Z</dcterms:modified>
</coreProperties>
</file>